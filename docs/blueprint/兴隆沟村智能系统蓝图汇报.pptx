
<file path=[Content_Types].xml><?xml version="1.0" encoding="utf-8"?>
<Types xmlns="http://schemas.openxmlformats.org/package/2006/content-types">
  <Override PartName="/ppt/slides/slide13.xml" ContentType="application/vnd.openxmlformats-officedocument.presentationml.slide+xml"/>
  <Override PartName="/ppt/slides/slide11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8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5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Override PartName="/ppt/slides/slide2.xml" ContentType="application/vnd.openxmlformats-officedocument.presentationml.slide+xml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theme/theme1.xml" ContentType="application/vnd.openxmlformats-officedocument.theme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8" r:id="rId14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</p:presentation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29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3">
            <a:extLst>
              <a:ext uri="{FF2B5EF4-FFF2-40B4-BE49-F238E27FC236}">
                <a16:creationId xmlns:a16="http://schemas.microsoft.com/office/drawing/2014/main" id="{AC17CEFD-1095-4060-9274-A8673CA192BF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Shape 4">
            <a:extLst>
              <a:ext uri="{FF2B5EF4-FFF2-40B4-BE49-F238E27FC236}">
                <a16:creationId xmlns:a16="http://schemas.microsoft.com/office/drawing/2014/main" id="{8D635E3F-A247-421E-BE33-C6B63754F597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241B">
              <a:alpha val="90196"/>
            </a:srgbClr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9FC741F6-60DE-45CF-9E09-1BA00396E63B}"/>
              </a:ext>
            </a:extLst>
          </p:cNvPr>
          <p:cNvSpPr txBox="1"/>
          <p:nvPr/>
        </p:nvSpPr>
        <p:spPr>
          <a:xfrm>
            <a:off x="914400" y="1333500"/>
            <a:ext cx="8572500" cy="2857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600">
                <a:solidFill>
                  <a:srgbClr val="D9C9A3"/>
                </a:solidFill>
                <a:latin typeface="Microsoft YaHei"/>
                <a:ea typeface="Microsoft YaHei"/>
              </a:rPr>
              <a:t>兴隆沟村智能系统蓝图 · 2026—2028</a:t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5A65AC77-0C8A-4D9B-A89C-A33C47DF6ACD}"/>
              </a:ext>
            </a:extLst>
          </p:cNvPr>
          <p:cNvSpPr txBox="1"/>
          <p:nvPr/>
        </p:nvSpPr>
        <p:spPr>
          <a:xfrm>
            <a:off x="914400" y="1866900"/>
            <a:ext cx="9525000" cy="12382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6800" b="1">
                <a:solidFill>
                  <a:srgbClr val="F7F3E8"/>
                </a:solidFill>
                <a:latin typeface="Microsoft YaHei"/>
                <a:ea typeface="Microsoft YaHei"/>
              </a:rPr>
              <a:t>让 AI 扎根乡土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927466A7-647A-49F7-85E2-FE45A23690C0}"/>
              </a:ext>
            </a:extLst>
          </p:cNvPr>
          <p:cNvSpPr txBox="1"/>
          <p:nvPr/>
        </p:nvSpPr>
        <p:spPr>
          <a:xfrm>
            <a:off x="914400" y="3333750"/>
            <a:ext cx="10001250" cy="4191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2200">
                <a:solidFill>
                  <a:srgbClr val="E8E0CE"/>
                </a:solidFill>
                <a:latin typeface="Microsoft YaHei"/>
                <a:ea typeface="Microsoft YaHei"/>
              </a:rPr>
              <a:t>用有边界的 Agent，辅助乡村服务与资源的整合、流转、交易与监管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DE14A9CF-C92C-423D-93C2-894148F58C1A}"/>
              </a:ext>
            </a:extLst>
          </p:cNvPr>
          <p:cNvSpPr txBox="1"/>
          <p:nvPr/>
        </p:nvSpPr>
        <p:spPr>
          <a:xfrm>
            <a:off x="914400" y="5829300"/>
            <a:ext cx="7620000" cy="2857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400">
                <a:solidFill>
                  <a:srgbClr val="C9BFA9"/>
                </a:solidFill>
                <a:latin typeface="Microsoft YaHei"/>
                <a:ea typeface="Microsoft YaHei"/>
              </a:rPr>
              <a:t>汇报版 v0.1 · 2026 年 10 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4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4FBD033E-02CA-4AE3-9EC3-2551CB7D9E5B}"/>
              </a:ext>
            </a:extLst>
          </p:cNvPr>
          <p:cNvSpPr txBox="1"/>
          <p:nvPr/>
        </p:nvSpPr>
        <p:spPr>
          <a:xfrm>
            <a:off x="609600" y="495300"/>
            <a:ext cx="3810000" cy="2667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2F5D46"/>
                </a:solidFill>
                <a:latin typeface="Microsoft YaHei"/>
                <a:ea typeface="Microsoft YaHei"/>
              </a:rPr>
              <a:t>核心主张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951F111B-867A-4998-848C-5123DD8D9309}"/>
              </a:ext>
            </a:extLst>
          </p:cNvPr>
          <p:cNvSpPr txBox="1"/>
          <p:nvPr/>
        </p:nvSpPr>
        <p:spPr>
          <a:xfrm>
            <a:off x="609600" y="800100"/>
            <a:ext cx="11049000" cy="6858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3600" b="1">
                <a:solidFill>
                  <a:srgbClr val="26302A"/>
                </a:solidFill>
                <a:latin typeface="Microsoft YaHei"/>
                <a:ea typeface="Microsoft YaHei"/>
              </a:rPr>
              <a:t>不是做机器人，而是建一支懂边界的 Agent 队伍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9573ED48-84A1-4388-B9B3-D96E4057462E}"/>
              </a:ext>
            </a:extLst>
          </p:cNvPr>
          <p:cNvSpPr txBox="1"/>
          <p:nvPr/>
        </p:nvSpPr>
        <p:spPr>
          <a:xfrm>
            <a:off x="609600" y="1866900"/>
            <a:ext cx="1714500" cy="134112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8000" b="1">
                <a:solidFill>
                  <a:srgbClr val="2F5D46"/>
                </a:solidFill>
                <a:latin typeface="Georgia"/>
                <a:ea typeface="Georgia"/>
              </a:rPr>
              <a:t>10</a:t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978E32A3-026A-4DEC-A68D-2B5B8C3B0A5B}"/>
              </a:ext>
            </a:extLst>
          </p:cNvPr>
          <p:cNvSpPr txBox="1"/>
          <p:nvPr/>
        </p:nvSpPr>
        <p:spPr>
          <a:xfrm>
            <a:off x="2381250" y="2438400"/>
            <a:ext cx="1905000" cy="402336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2F5D46"/>
                </a:solidFill>
                <a:latin typeface="Microsoft YaHei"/>
                <a:ea typeface="Microsoft YaHei"/>
              </a:rPr>
              <a:t>个 Agent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9AD045F5-8B6F-44EE-A0D9-F892D7A16108}"/>
              </a:ext>
            </a:extLst>
          </p:cNvPr>
          <p:cNvSpPr txBox="1"/>
          <p:nvPr/>
        </p:nvSpPr>
        <p:spPr>
          <a:xfrm>
            <a:off x="609600" y="3390900"/>
            <a:ext cx="4953000" cy="9144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600">
                <a:solidFill>
                  <a:srgbClr val="26302A"/>
                </a:solidFill>
                <a:latin typeface="Microsoft YaHei"/>
                <a:ea typeface="Microsoft YaHei"/>
              </a:rPr>
              <a:t>5 个角色助手嵌入工作台，5 个职能 Agent 跨角色巡检；每个 Agent 上线前都要签一张契约卡。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67144AC5-4A2A-417C-87E2-24EA2855EF52}"/>
              </a:ext>
            </a:extLst>
          </p:cNvPr>
          <p:cNvSpPr txBox="1"/>
          <p:nvPr/>
        </p:nvSpPr>
        <p:spPr>
          <a:xfrm>
            <a:off x="6477000" y="1866900"/>
            <a:ext cx="5105400" cy="33528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26302A"/>
                </a:solidFill>
                <a:latin typeface="Microsoft YaHei"/>
                <a:ea typeface="Microsoft YaHei"/>
              </a:rPr>
              <a:t>角色分工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CAAF4FD7-827F-48F2-990A-AEA09CCEA23B}"/>
              </a:ext>
            </a:extLst>
          </p:cNvPr>
          <p:cNvSpPr txBox="1"/>
          <p:nvPr/>
        </p:nvSpPr>
        <p:spPr>
          <a:xfrm>
            <a:off x="6477000" y="2209800"/>
            <a:ext cx="5105400" cy="2667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400">
                <a:solidFill>
                  <a:srgbClr val="6B746C"/>
                </a:solidFill>
                <a:latin typeface="Microsoft YaHei"/>
                <a:ea typeface="Microsoft YaHei"/>
              </a:rPr>
              <a:t>五个角色各有专属助手，权限随角色走。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7F53FFB8-7762-414B-9153-5C655C9D99E0}"/>
              </a:ext>
            </a:extLst>
          </p:cNvPr>
          <p:cNvSpPr/>
          <p:nvPr/>
        </p:nvSpPr>
        <p:spPr>
          <a:xfrm>
            <a:off x="6477000" y="2686050"/>
            <a:ext cx="5105400" cy="9525"/>
          </a:xfrm>
          <a:prstGeom prst="rect">
            <a:avLst/>
          </a:prstGeom>
          <a:solidFill>
            <a:srgbClr val="E3DCCB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7D27852C-18BA-466A-85BD-5C9012317BD2}"/>
              </a:ext>
            </a:extLst>
          </p:cNvPr>
          <p:cNvSpPr txBox="1"/>
          <p:nvPr/>
        </p:nvSpPr>
        <p:spPr>
          <a:xfrm>
            <a:off x="6477000" y="2857500"/>
            <a:ext cx="5105400" cy="33528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26302A"/>
                </a:solidFill>
                <a:latin typeface="Microsoft YaHei"/>
                <a:ea typeface="Microsoft YaHei"/>
              </a:rPr>
              <a:t>契约边界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7FBF20F7-1764-4965-A823-3BD2ACD2627B}"/>
              </a:ext>
            </a:extLst>
          </p:cNvPr>
          <p:cNvSpPr txBox="1"/>
          <p:nvPr/>
        </p:nvSpPr>
        <p:spPr>
          <a:xfrm>
            <a:off x="6477000" y="3200400"/>
            <a:ext cx="5105400" cy="2667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400">
                <a:solidFill>
                  <a:srgbClr val="6B746C"/>
                </a:solidFill>
                <a:latin typeface="Microsoft YaHei"/>
                <a:ea typeface="Microsoft YaHei"/>
              </a:rPr>
              <a:t>数据、接口、业务范围写死，越界即升级给人。</a:t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5B1AF591-E1CC-4574-AF1F-52CAF7B954CE}"/>
              </a:ext>
            </a:extLst>
          </p:cNvPr>
          <p:cNvSpPr/>
          <p:nvPr/>
        </p:nvSpPr>
        <p:spPr>
          <a:xfrm>
            <a:off x="6477000" y="3676650"/>
            <a:ext cx="5105400" cy="9525"/>
          </a:xfrm>
          <a:prstGeom prst="rect">
            <a:avLst/>
          </a:prstGeom>
          <a:solidFill>
            <a:srgbClr val="E3DCCB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153D9970-1002-48FE-B6BC-2AF3351C3F3E}"/>
              </a:ext>
            </a:extLst>
          </p:cNvPr>
          <p:cNvSpPr txBox="1"/>
          <p:nvPr/>
        </p:nvSpPr>
        <p:spPr>
          <a:xfrm>
            <a:off x="6477000" y="3848100"/>
            <a:ext cx="5105400" cy="33528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26302A"/>
                </a:solidFill>
                <a:latin typeface="Microsoft YaHei"/>
                <a:ea typeface="Microsoft YaHei"/>
              </a:rPr>
              <a:t>事件流转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0F32F6FE-2CF7-45CC-97CC-6FD34707DB4B}"/>
              </a:ext>
            </a:extLst>
          </p:cNvPr>
          <p:cNvSpPr txBox="1"/>
          <p:nvPr/>
        </p:nvSpPr>
        <p:spPr>
          <a:xfrm>
            <a:off x="6477000" y="4191000"/>
            <a:ext cx="5105400" cy="2667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400">
                <a:solidFill>
                  <a:srgbClr val="6B746C"/>
                </a:solidFill>
                <a:latin typeface="Microsoft YaHei"/>
                <a:ea typeface="Microsoft YaHei"/>
              </a:rPr>
              <a:t>跨角色协作走事件总线，不靠页面跳转和人肉传话。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9F20722F-0D35-48FF-B031-08A300A2C4F0}"/>
              </a:ext>
            </a:extLst>
          </p:cNvPr>
          <p:cNvSpPr txBox="1"/>
          <p:nvPr/>
        </p:nvSpPr>
        <p:spPr>
          <a:xfrm>
            <a:off x="609600" y="5600700"/>
            <a:ext cx="10972800" cy="4572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B8860B"/>
                </a:solidFill>
                <a:latin typeface="Microsoft YaHei"/>
                <a:ea typeface="Microsoft YaHei"/>
              </a:rPr>
              <a:t>边界先于智能：没有契约卡的 Agent 不允许上线。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4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2F99975E-E593-472A-AF00-E4D779488CE2}"/>
              </a:ext>
            </a:extLst>
          </p:cNvPr>
          <p:cNvSpPr txBox="1"/>
          <p:nvPr/>
        </p:nvSpPr>
        <p:spPr>
          <a:xfrm>
            <a:off x="609600" y="495300"/>
            <a:ext cx="3810000" cy="2667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2F5D46"/>
                </a:solidFill>
                <a:latin typeface="Microsoft YaHei"/>
                <a:ea typeface="Microsoft YaHei"/>
              </a:rPr>
              <a:t>现状盘点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122BED98-CEE5-4D2D-AE7A-87D5963DFC68}"/>
              </a:ext>
            </a:extLst>
          </p:cNvPr>
          <p:cNvSpPr txBox="1"/>
          <p:nvPr/>
        </p:nvSpPr>
        <p:spPr>
          <a:xfrm>
            <a:off x="609600" y="800100"/>
            <a:ext cx="11049000" cy="6858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3600" b="1">
                <a:solidFill>
                  <a:srgbClr val="26302A"/>
                </a:solidFill>
                <a:latin typeface="Microsoft YaHei"/>
                <a:ea typeface="Microsoft YaHei"/>
              </a:rPr>
              <a:t>骨架已经有了，缺的是数据、智能与监控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CD46F67-8EF5-4E99-AFC1-ED169407C961}"/>
              </a:ext>
            </a:extLst>
          </p:cNvPr>
          <p:cNvSpPr/>
          <p:nvPr/>
        </p:nvSpPr>
        <p:spPr>
          <a:xfrm>
            <a:off x="609600" y="1714500"/>
            <a:ext cx="5257800" cy="390525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CCB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72EEEE89-23FA-49E7-8B4F-023D9F818F0A}"/>
              </a:ext>
            </a:extLst>
          </p:cNvPr>
          <p:cNvSpPr txBox="1"/>
          <p:nvPr/>
        </p:nvSpPr>
        <p:spPr>
          <a:xfrm>
            <a:off x="914400" y="2000250"/>
            <a:ext cx="4572000" cy="33528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2F5D46"/>
                </a:solidFill>
                <a:latin typeface="Microsoft YaHei"/>
                <a:ea typeface="Microsoft YaHei"/>
              </a:rPr>
              <a:t>已经具备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D8F2FD5F-23A0-4FE7-997E-E3C712FB9DE9}"/>
              </a:ext>
            </a:extLst>
          </p:cNvPr>
          <p:cNvSpPr txBox="1"/>
          <p:nvPr/>
        </p:nvSpPr>
        <p:spPr>
          <a:xfrm>
            <a:off x="914400" y="2552700"/>
            <a:ext cx="4572000" cy="2857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26302A"/>
                </a:solidFill>
                <a:latin typeface="Microsoft YaHei"/>
                <a:ea typeface="Microsoft YaHei"/>
              </a:rPr>
              <a:t>内容驱动官网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4832784C-C0B2-4CE2-B8A0-6DC3DB4303DE}"/>
              </a:ext>
            </a:extLst>
          </p:cNvPr>
          <p:cNvSpPr txBox="1"/>
          <p:nvPr/>
        </p:nvSpPr>
        <p:spPr>
          <a:xfrm>
            <a:off x="914400" y="2819400"/>
            <a:ext cx="4572000" cy="2476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300">
                <a:solidFill>
                  <a:srgbClr val="6B746C"/>
                </a:solidFill>
                <a:latin typeface="Microsoft YaHei"/>
                <a:ea typeface="Microsoft YaHei"/>
              </a:rPr>
              <a:t>改 site.json 即可上线，SEO 与内容模型已就绪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82D02AAF-4DBC-4FF9-B260-2D6798AF05A4}"/>
              </a:ext>
            </a:extLst>
          </p:cNvPr>
          <p:cNvSpPr txBox="1"/>
          <p:nvPr/>
        </p:nvSpPr>
        <p:spPr>
          <a:xfrm>
            <a:off x="914400" y="3257550"/>
            <a:ext cx="4572000" cy="2857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26302A"/>
                </a:solidFill>
                <a:latin typeface="Microsoft YaHei"/>
                <a:ea typeface="Microsoft YaHei"/>
              </a:rPr>
              <a:t>五角色工作台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AFD26E2F-3055-4687-BAC4-F028DD2300E5}"/>
              </a:ext>
            </a:extLst>
          </p:cNvPr>
          <p:cNvSpPr txBox="1"/>
          <p:nvPr/>
        </p:nvSpPr>
        <p:spPr>
          <a:xfrm>
            <a:off x="914400" y="3524250"/>
            <a:ext cx="4572000" cy="2476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300">
                <a:solidFill>
                  <a:srgbClr val="6B746C"/>
                </a:solidFill>
                <a:latin typeface="Microsoft YaHei"/>
                <a:ea typeface="Microsoft YaHei"/>
              </a:rPr>
              <a:t>路由、按区懒加载、权限守卫已跑通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9A286ABA-5D39-4598-B754-09708091FFEA}"/>
              </a:ext>
            </a:extLst>
          </p:cNvPr>
          <p:cNvSpPr txBox="1"/>
          <p:nvPr/>
        </p:nvSpPr>
        <p:spPr>
          <a:xfrm>
            <a:off x="914400" y="3962400"/>
            <a:ext cx="4572000" cy="2857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26302A"/>
                </a:solidFill>
                <a:latin typeface="Microsoft YaHei"/>
                <a:ea typeface="Microsoft YaHei"/>
              </a:rPr>
              <a:t>角色授权云函数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8467B3E8-7BEB-49AA-9DAC-1003FB9BC0C2}"/>
              </a:ext>
            </a:extLst>
          </p:cNvPr>
          <p:cNvSpPr txBox="1"/>
          <p:nvPr/>
        </p:nvSpPr>
        <p:spPr>
          <a:xfrm>
            <a:off x="914400" y="4229100"/>
            <a:ext cx="4572000" cy="2476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300">
                <a:solidFill>
                  <a:srgbClr val="6B746C"/>
                </a:solidFill>
                <a:latin typeface="Microsoft YaHei"/>
                <a:ea typeface="Microsoft YaHei"/>
              </a:rPr>
              <a:t>身份只信 TCB_UUID，PG 授权表已上线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BB85BC60-9FD3-49BE-8334-74EF19D2343E}"/>
              </a:ext>
            </a:extLst>
          </p:cNvPr>
          <p:cNvSpPr txBox="1"/>
          <p:nvPr/>
        </p:nvSpPr>
        <p:spPr>
          <a:xfrm>
            <a:off x="914400" y="4667250"/>
            <a:ext cx="4572000" cy="2857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26302A"/>
                </a:solidFill>
                <a:latin typeface="Microsoft YaHei"/>
                <a:ea typeface="Microsoft YaHei"/>
              </a:rPr>
              <a:t>CloudBase 底座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EE0E17EA-FE35-4201-9EC6-3530AA5FF600}"/>
              </a:ext>
            </a:extLst>
          </p:cNvPr>
          <p:cNvSpPr txBox="1"/>
          <p:nvPr/>
        </p:nvSpPr>
        <p:spPr>
          <a:xfrm>
            <a:off x="914400" y="4933950"/>
            <a:ext cx="4572000" cy="2476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300">
                <a:solidFill>
                  <a:srgbClr val="6B746C"/>
                </a:solidFill>
                <a:latin typeface="Microsoft YaHei"/>
                <a:ea typeface="Microsoft YaHei"/>
              </a:rPr>
              <a:t>托管、云函数、PostgreSQL、短信登录</a:t>
            </a:r>
          </a:p>
        </p:txBody>
      </p:sp>
      <p:sp>
        <p:nvSpPr>
          <p:cNvPr id="15" name="Shape 15">
            <a:extLst>
              <a:ext uri="{FF2B5EF4-FFF2-40B4-BE49-F238E27FC236}">
                <a16:creationId xmlns:a16="http://schemas.microsoft.com/office/drawing/2014/main" id="{E3978B10-0CA4-4DE0-9DAE-1A8684DA2175}"/>
              </a:ext>
            </a:extLst>
          </p:cNvPr>
          <p:cNvSpPr/>
          <p:nvPr/>
        </p:nvSpPr>
        <p:spPr>
          <a:xfrm>
            <a:off x="6324600" y="1714500"/>
            <a:ext cx="5257800" cy="390525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CCB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36979D23-9655-485E-96D9-2D98EE85A4E3}"/>
              </a:ext>
            </a:extLst>
          </p:cNvPr>
          <p:cNvSpPr txBox="1"/>
          <p:nvPr/>
        </p:nvSpPr>
        <p:spPr>
          <a:xfrm>
            <a:off x="6629400" y="2000250"/>
            <a:ext cx="4572000" cy="33528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B8860B"/>
                </a:solidFill>
                <a:latin typeface="Microsoft YaHei"/>
                <a:ea typeface="Microsoft YaHei"/>
              </a:rPr>
              <a:t>关键差距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75608161-4DB4-4F62-B94B-C644D4035DF3}"/>
              </a:ext>
            </a:extLst>
          </p:cNvPr>
          <p:cNvSpPr txBox="1"/>
          <p:nvPr/>
        </p:nvSpPr>
        <p:spPr>
          <a:xfrm>
            <a:off x="6629400" y="2552700"/>
            <a:ext cx="4572000" cy="2857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26302A"/>
                </a:solidFill>
                <a:latin typeface="Microsoft YaHei"/>
                <a:ea typeface="Microsoft YaHei"/>
              </a:rPr>
              <a:t>业务数据只有一张表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E06C2D0A-FC12-4D34-8763-84821FFB29F4}"/>
              </a:ext>
            </a:extLst>
          </p:cNvPr>
          <p:cNvSpPr txBox="1"/>
          <p:nvPr/>
        </p:nvSpPr>
        <p:spPr>
          <a:xfrm>
            <a:off x="6629400" y="2819400"/>
            <a:ext cx="4572000" cy="2476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300">
                <a:solidFill>
                  <a:srgbClr val="6B746C"/>
                </a:solidFill>
                <a:latin typeface="Microsoft YaHei"/>
                <a:ea typeface="Microsoft YaHei"/>
              </a:rPr>
              <a:t>仅有 user_roles，地块、批次、订单尚未建模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8DEE7C97-789A-46EB-A776-683E0E878830}"/>
              </a:ext>
            </a:extLst>
          </p:cNvPr>
          <p:cNvSpPr txBox="1"/>
          <p:nvPr/>
        </p:nvSpPr>
        <p:spPr>
          <a:xfrm>
            <a:off x="6629400" y="3257550"/>
            <a:ext cx="4572000" cy="2857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26302A"/>
                </a:solidFill>
                <a:latin typeface="Microsoft YaHei"/>
                <a:ea typeface="Microsoft YaHei"/>
              </a:rPr>
              <a:t>流程靠人工跳转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BEAC201E-D92B-4C67-91F4-2500D1B8BE2C}"/>
              </a:ext>
            </a:extLst>
          </p:cNvPr>
          <p:cNvSpPr txBox="1"/>
          <p:nvPr/>
        </p:nvSpPr>
        <p:spPr>
          <a:xfrm>
            <a:off x="6629400" y="3524250"/>
            <a:ext cx="4572000" cy="2476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300">
                <a:solidFill>
                  <a:srgbClr val="6B746C"/>
                </a:solidFill>
                <a:latin typeface="Microsoft YaHei"/>
                <a:ea typeface="Microsoft YaHei"/>
              </a:rPr>
              <a:t>没有事件与状态机，进度不可追踪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94EF0D7C-D7E5-4C1A-8AB5-0B58EEED3A6D}"/>
              </a:ext>
            </a:extLst>
          </p:cNvPr>
          <p:cNvSpPr txBox="1"/>
          <p:nvPr/>
        </p:nvSpPr>
        <p:spPr>
          <a:xfrm>
            <a:off x="6629400" y="3962400"/>
            <a:ext cx="4572000" cy="2857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26302A"/>
                </a:solidFill>
                <a:latin typeface="Microsoft YaHei"/>
                <a:ea typeface="Microsoft YaHei"/>
              </a:rPr>
              <a:t>无智能能力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229F5C7F-3A7C-4A15-9CA6-95CE463404D1}"/>
              </a:ext>
            </a:extLst>
          </p:cNvPr>
          <p:cNvSpPr txBox="1"/>
          <p:nvPr/>
        </p:nvSpPr>
        <p:spPr>
          <a:xfrm>
            <a:off x="6629400" y="4229100"/>
            <a:ext cx="4572000" cy="2476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300">
                <a:solidFill>
                  <a:srgbClr val="6B746C"/>
                </a:solidFill>
                <a:latin typeface="Microsoft YaHei"/>
                <a:ea typeface="Microsoft YaHei"/>
              </a:rPr>
              <a:t>农技、质检、预警全靠人工经验</a:t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F0ADAEB4-EBFD-4777-9CC4-5963B992ABC8}"/>
              </a:ext>
            </a:extLst>
          </p:cNvPr>
          <p:cNvSpPr txBox="1"/>
          <p:nvPr/>
        </p:nvSpPr>
        <p:spPr>
          <a:xfrm>
            <a:off x="6629400" y="4667250"/>
            <a:ext cx="4572000" cy="2857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26302A"/>
                </a:solidFill>
                <a:latin typeface="Microsoft YaHei"/>
                <a:ea typeface="Microsoft YaHei"/>
              </a:rPr>
              <a:t>无监测与审计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6D83809B-38D0-474B-BAF5-E30A30967C16}"/>
              </a:ext>
            </a:extLst>
          </p:cNvPr>
          <p:cNvSpPr txBox="1"/>
          <p:nvPr/>
        </p:nvSpPr>
        <p:spPr>
          <a:xfrm>
            <a:off x="6629400" y="4933950"/>
            <a:ext cx="4572000" cy="2476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300">
                <a:solidFill>
                  <a:srgbClr val="6B746C"/>
                </a:solidFill>
                <a:latin typeface="Microsoft YaHei"/>
                <a:ea typeface="Microsoft YaHei"/>
              </a:rPr>
              <a:t>业务动作与 Agent 缺乏留痕和指标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337596DA-9C0D-456A-86BC-27B199B44968}"/>
              </a:ext>
            </a:extLst>
          </p:cNvPr>
          <p:cNvSpPr txBox="1"/>
          <p:nvPr/>
        </p:nvSpPr>
        <p:spPr>
          <a:xfrm>
            <a:off x="609600" y="5924550"/>
            <a:ext cx="10972800" cy="3810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2F5D46"/>
                </a:solidFill>
                <a:latin typeface="Microsoft YaHei"/>
                <a:ea typeface="Microsoft YaHei"/>
              </a:rPr>
              <a:t>结论：不推倒重来——在现有骨架上长出数据、Agent 与监测三类能力。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4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6C73C7BD-AD2E-45DF-B0F3-57BB92BC284B}"/>
              </a:ext>
            </a:extLst>
          </p:cNvPr>
          <p:cNvSpPr txBox="1"/>
          <p:nvPr/>
        </p:nvSpPr>
        <p:spPr>
          <a:xfrm>
            <a:off x="609600" y="495300"/>
            <a:ext cx="3810000" cy="2667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2F5D46"/>
                </a:solidFill>
                <a:latin typeface="Microsoft YaHei"/>
                <a:ea typeface="Microsoft YaHei"/>
              </a:rPr>
              <a:t>建设目标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AC1BF236-206D-4040-8A88-558D0FC35055}"/>
              </a:ext>
            </a:extLst>
          </p:cNvPr>
          <p:cNvSpPr txBox="1"/>
          <p:nvPr/>
        </p:nvSpPr>
        <p:spPr>
          <a:xfrm>
            <a:off x="609600" y="800100"/>
            <a:ext cx="11049000" cy="6858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3600" b="1">
                <a:solidFill>
                  <a:srgbClr val="26302A"/>
                </a:solidFill>
                <a:latin typeface="Microsoft YaHei"/>
                <a:ea typeface="Microsoft YaHei"/>
              </a:rPr>
              <a:t>五项目标，每一项都可度量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95A3AC44-7470-4629-9D0B-692D7CD34141}"/>
              </a:ext>
            </a:extLst>
          </p:cNvPr>
          <p:cNvSpPr/>
          <p:nvPr/>
        </p:nvSpPr>
        <p:spPr>
          <a:xfrm>
            <a:off x="609600" y="1619250"/>
            <a:ext cx="3505200" cy="180975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CCB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BDE5A85F-798D-4B53-B49C-5FBF72310B08}"/>
              </a:ext>
            </a:extLst>
          </p:cNvPr>
          <p:cNvSpPr txBox="1"/>
          <p:nvPr/>
        </p:nvSpPr>
        <p:spPr>
          <a:xfrm>
            <a:off x="876300" y="1828800"/>
            <a:ext cx="571500" cy="2095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B8860B"/>
                </a:solidFill>
                <a:latin typeface="Georgia"/>
                <a:ea typeface="Georgia"/>
              </a:rPr>
              <a:t>01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84269E80-E9B1-41FA-9EE9-91C207C3511E}"/>
              </a:ext>
            </a:extLst>
          </p:cNvPr>
          <p:cNvSpPr txBox="1"/>
          <p:nvPr/>
        </p:nvSpPr>
        <p:spPr>
          <a:xfrm>
            <a:off x="876300" y="2057400"/>
            <a:ext cx="2971800" cy="3048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26302A"/>
                </a:solidFill>
                <a:latin typeface="Microsoft YaHei"/>
                <a:ea typeface="Microsoft YaHei"/>
              </a:rPr>
              <a:t>节约人力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A37A4FE2-5C8A-404F-AADE-5269E79D756D}"/>
              </a:ext>
            </a:extLst>
          </p:cNvPr>
          <p:cNvSpPr txBox="1"/>
          <p:nvPr/>
        </p:nvSpPr>
        <p:spPr>
          <a:xfrm>
            <a:off x="876300" y="2419350"/>
            <a:ext cx="2971800" cy="6667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300">
                <a:solidFill>
                  <a:srgbClr val="6B746C"/>
                </a:solidFill>
                <a:latin typeface="Microsoft YaHei"/>
                <a:ea typeface="Microsoft YaHei"/>
              </a:rPr>
              <a:t>咨询从小时级降到分钟级，入库质检耗时下降 30% 以上。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93550339-C30C-4F71-B7CE-37F61199CCB7}"/>
              </a:ext>
            </a:extLst>
          </p:cNvPr>
          <p:cNvSpPr txBox="1"/>
          <p:nvPr/>
        </p:nvSpPr>
        <p:spPr>
          <a:xfrm>
            <a:off x="876300" y="3067050"/>
            <a:ext cx="2971800" cy="2286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2F5D46"/>
                </a:solidFill>
                <a:latin typeface="Microsoft YaHei"/>
                <a:ea typeface="Microsoft YaHei"/>
              </a:rPr>
              <a:t>审计：100% 机器预筛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72128EDB-0888-4C88-9BD0-AE50BDD6A39E}"/>
              </a:ext>
            </a:extLst>
          </p:cNvPr>
          <p:cNvSpPr/>
          <p:nvPr/>
        </p:nvSpPr>
        <p:spPr>
          <a:xfrm>
            <a:off x="4343400" y="1619250"/>
            <a:ext cx="3505200" cy="180975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CCB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020F7B4C-0C31-4692-A0B6-DE4EED1C4C58}"/>
              </a:ext>
            </a:extLst>
          </p:cNvPr>
          <p:cNvSpPr txBox="1"/>
          <p:nvPr/>
        </p:nvSpPr>
        <p:spPr>
          <a:xfrm>
            <a:off x="4610100" y="1828800"/>
            <a:ext cx="571500" cy="2095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B8860B"/>
                </a:solidFill>
                <a:latin typeface="Georgia"/>
                <a:ea typeface="Georgia"/>
              </a:rPr>
              <a:t>02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C7197EEE-DCCB-49B6-8EEB-95712DF3789E}"/>
              </a:ext>
            </a:extLst>
          </p:cNvPr>
          <p:cNvSpPr txBox="1"/>
          <p:nvPr/>
        </p:nvSpPr>
        <p:spPr>
          <a:xfrm>
            <a:off x="4610100" y="2057400"/>
            <a:ext cx="2971800" cy="3048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26302A"/>
                </a:solidFill>
                <a:latin typeface="Microsoft YaHei"/>
                <a:ea typeface="Microsoft YaHei"/>
              </a:rPr>
              <a:t>智能自治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7B09B6FD-01E8-4068-AB21-A67F1EF57818}"/>
              </a:ext>
            </a:extLst>
          </p:cNvPr>
          <p:cNvSpPr txBox="1"/>
          <p:nvPr/>
        </p:nvSpPr>
        <p:spPr>
          <a:xfrm>
            <a:off x="4610100" y="2419350"/>
            <a:ext cx="2971800" cy="6667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300">
                <a:solidFill>
                  <a:srgbClr val="6B746C"/>
                </a:solidFill>
                <a:latin typeface="Microsoft YaHei"/>
                <a:ea typeface="Microsoft YaHei"/>
              </a:rPr>
              <a:t>低风险任务由 Agent 自动完成，人工只处理例外。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32B73537-DD1E-4782-B9BD-A513ECCD37C1}"/>
              </a:ext>
            </a:extLst>
          </p:cNvPr>
          <p:cNvSpPr txBox="1"/>
          <p:nvPr/>
        </p:nvSpPr>
        <p:spPr>
          <a:xfrm>
            <a:off x="4610100" y="3067050"/>
            <a:ext cx="2971800" cy="2286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2F5D46"/>
                </a:solidFill>
                <a:latin typeface="Microsoft YaHei"/>
                <a:ea typeface="Microsoft YaHei"/>
              </a:rPr>
              <a:t>目标：自动完成率 ≥70%</a:t>
            </a:r>
          </a:p>
        </p:txBody>
      </p:sp>
      <p:sp>
        <p:nvSpPr>
          <p:cNvPr id="15" name="Shape 15">
            <a:extLst>
              <a:ext uri="{FF2B5EF4-FFF2-40B4-BE49-F238E27FC236}">
                <a16:creationId xmlns:a16="http://schemas.microsoft.com/office/drawing/2014/main" id="{DE1E7416-1DA4-4C80-BDFC-FF20DE282A8B}"/>
              </a:ext>
            </a:extLst>
          </p:cNvPr>
          <p:cNvSpPr/>
          <p:nvPr/>
        </p:nvSpPr>
        <p:spPr>
          <a:xfrm>
            <a:off x="8077200" y="1619250"/>
            <a:ext cx="3505200" cy="180975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CCB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C12410E3-755C-4EEF-B075-B83562ADB97C}"/>
              </a:ext>
            </a:extLst>
          </p:cNvPr>
          <p:cNvSpPr txBox="1"/>
          <p:nvPr/>
        </p:nvSpPr>
        <p:spPr>
          <a:xfrm>
            <a:off x="8343900" y="1828800"/>
            <a:ext cx="571500" cy="2095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B8860B"/>
                </a:solidFill>
                <a:latin typeface="Georgia"/>
                <a:ea typeface="Georgia"/>
              </a:rPr>
              <a:t>03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C86806B4-1FDE-4DC4-81E5-9FF16786C7D3}"/>
              </a:ext>
            </a:extLst>
          </p:cNvPr>
          <p:cNvSpPr txBox="1"/>
          <p:nvPr/>
        </p:nvSpPr>
        <p:spPr>
          <a:xfrm>
            <a:off x="8343900" y="2057400"/>
            <a:ext cx="2971800" cy="3048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26302A"/>
                </a:solidFill>
                <a:latin typeface="Microsoft YaHei"/>
                <a:ea typeface="Microsoft YaHei"/>
              </a:rPr>
              <a:t>AI 赋能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F4C4BFA4-E3CC-49CE-AFD6-AE24AF40AAF9}"/>
              </a:ext>
            </a:extLst>
          </p:cNvPr>
          <p:cNvSpPr txBox="1"/>
          <p:nvPr/>
        </p:nvSpPr>
        <p:spPr>
          <a:xfrm>
            <a:off x="8343900" y="2419350"/>
            <a:ext cx="2971800" cy="6667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300">
                <a:solidFill>
                  <a:srgbClr val="6B746C"/>
                </a:solidFill>
                <a:latin typeface="Microsoft YaHei"/>
                <a:ea typeface="Microsoft YaHei"/>
              </a:rPr>
              <a:t>每个角色至少 1 个 Agent 深度嵌入日常工作流。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07A9A0A1-A758-432A-8F17-F20FEF09B960}"/>
              </a:ext>
            </a:extLst>
          </p:cNvPr>
          <p:cNvSpPr txBox="1"/>
          <p:nvPr/>
        </p:nvSpPr>
        <p:spPr>
          <a:xfrm>
            <a:off x="8343900" y="3067050"/>
            <a:ext cx="2971800" cy="2286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2F5D46"/>
                </a:solidFill>
                <a:latin typeface="Microsoft YaHei"/>
                <a:ea typeface="Microsoft YaHei"/>
              </a:rPr>
              <a:t>不做独立的聊天窗口</a:t>
            </a:r>
          </a:p>
        </p:txBody>
      </p:sp>
      <p:sp>
        <p:nvSpPr>
          <p:cNvPr id="20" name="Shape 20">
            <a:extLst>
              <a:ext uri="{FF2B5EF4-FFF2-40B4-BE49-F238E27FC236}">
                <a16:creationId xmlns:a16="http://schemas.microsoft.com/office/drawing/2014/main" id="{414430EA-2B9D-4B9D-BA4C-0B35625AB343}"/>
              </a:ext>
            </a:extLst>
          </p:cNvPr>
          <p:cNvSpPr/>
          <p:nvPr/>
        </p:nvSpPr>
        <p:spPr>
          <a:xfrm>
            <a:off x="609600" y="3619500"/>
            <a:ext cx="5334000" cy="180975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CCB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31C95A19-2F00-452C-948B-C1D0F1F7D739}"/>
              </a:ext>
            </a:extLst>
          </p:cNvPr>
          <p:cNvSpPr txBox="1"/>
          <p:nvPr/>
        </p:nvSpPr>
        <p:spPr>
          <a:xfrm>
            <a:off x="876300" y="3829050"/>
            <a:ext cx="571500" cy="2095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B8860B"/>
                </a:solidFill>
                <a:latin typeface="Georgia"/>
                <a:ea typeface="Georgia"/>
              </a:rPr>
              <a:t>04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5F2D996A-9ECF-4C41-B14F-6C23E3D75056}"/>
              </a:ext>
            </a:extLst>
          </p:cNvPr>
          <p:cNvSpPr txBox="1"/>
          <p:nvPr/>
        </p:nvSpPr>
        <p:spPr>
          <a:xfrm>
            <a:off x="876300" y="4057650"/>
            <a:ext cx="4800600" cy="3048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26302A"/>
                </a:solidFill>
                <a:latin typeface="Microsoft YaHei"/>
                <a:ea typeface="Microsoft YaHei"/>
              </a:rPr>
              <a:t>为人类增智</a:t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E9685165-0DFF-487B-BA3B-578426A38507}"/>
              </a:ext>
            </a:extLst>
          </p:cNvPr>
          <p:cNvSpPr txBox="1"/>
          <p:nvPr/>
        </p:nvSpPr>
        <p:spPr>
          <a:xfrm>
            <a:off x="876300" y="4419600"/>
            <a:ext cx="4800600" cy="7239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300">
                <a:solidFill>
                  <a:srgbClr val="6B746C"/>
                </a:solidFill>
                <a:latin typeface="Microsoft YaHei"/>
                <a:ea typeface="Microsoft YaHei"/>
              </a:rPr>
              <a:t>答案强制带来源引用；高频问答沉淀为知识条目，反哺培训与知识库。</a:t>
            </a:r>
          </a:p>
        </p:txBody>
      </p:sp>
      <p:sp>
        <p:nvSpPr>
          <p:cNvPr id="24" name="Shape 24">
            <a:extLst>
              <a:ext uri="{FF2B5EF4-FFF2-40B4-BE49-F238E27FC236}">
                <a16:creationId xmlns:a16="http://schemas.microsoft.com/office/drawing/2014/main" id="{9F25DF36-2B0D-4219-B411-DD32F2A71CA4}"/>
              </a:ext>
            </a:extLst>
          </p:cNvPr>
          <p:cNvSpPr/>
          <p:nvPr/>
        </p:nvSpPr>
        <p:spPr>
          <a:xfrm>
            <a:off x="6248400" y="3619500"/>
            <a:ext cx="5334000" cy="180975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CCB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40020B0E-4A96-42B6-9B57-A4810C35B21C}"/>
              </a:ext>
            </a:extLst>
          </p:cNvPr>
          <p:cNvSpPr txBox="1"/>
          <p:nvPr/>
        </p:nvSpPr>
        <p:spPr>
          <a:xfrm>
            <a:off x="6515100" y="3829050"/>
            <a:ext cx="571500" cy="2095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B8860B"/>
                </a:solidFill>
                <a:latin typeface="Georgia"/>
                <a:ea typeface="Georgia"/>
              </a:rPr>
              <a:t>05</a:t>
            </a:r>
          </a:p>
        </p:txBody>
      </p:sp>
      <p:sp>
        <p:nvSpPr>
          <p:cNvPr id="26" name="TextBox 26">
            <a:extLst>
              <a:ext uri="{FF2B5EF4-FFF2-40B4-BE49-F238E27FC236}">
                <a16:creationId xmlns:a16="http://schemas.microsoft.com/office/drawing/2014/main" id="{898B1C0D-95AE-42A6-BB61-C23289E29AF9}"/>
              </a:ext>
            </a:extLst>
          </p:cNvPr>
          <p:cNvSpPr txBox="1"/>
          <p:nvPr/>
        </p:nvSpPr>
        <p:spPr>
          <a:xfrm>
            <a:off x="6515100" y="4057650"/>
            <a:ext cx="4800600" cy="3048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26302A"/>
                </a:solidFill>
                <a:latin typeface="Microsoft YaHei"/>
                <a:ea typeface="Microsoft YaHei"/>
              </a:rPr>
              <a:t>辅助预警</a:t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DFC4134C-2B4C-486A-81A0-61CADEDE5BA8}"/>
              </a:ext>
            </a:extLst>
          </p:cNvPr>
          <p:cNvSpPr txBox="1"/>
          <p:nvPr/>
        </p:nvSpPr>
        <p:spPr>
          <a:xfrm>
            <a:off x="6515100" y="4419600"/>
            <a:ext cx="4800600" cy="7239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300">
                <a:solidFill>
                  <a:srgbClr val="6B746C"/>
                </a:solidFill>
                <a:latin typeface="Microsoft YaHei"/>
                <a:ea typeface="Microsoft YaHei"/>
              </a:rPr>
              <a:t>病虫害、气象、价格、异常交易四类预警，可解释、可处置、可回访。</a:t>
            </a:r>
          </a:p>
        </p:txBody>
      </p:sp>
      <p:sp>
        <p:nvSpPr>
          <p:cNvPr id="28" name="TextBox 28">
            <a:extLst>
              <a:ext uri="{FF2B5EF4-FFF2-40B4-BE49-F238E27FC236}">
                <a16:creationId xmlns:a16="http://schemas.microsoft.com/office/drawing/2014/main" id="{56106B7B-547C-4C68-A173-D6F26CBF6B6C}"/>
              </a:ext>
            </a:extLst>
          </p:cNvPr>
          <p:cNvSpPr txBox="1"/>
          <p:nvPr/>
        </p:nvSpPr>
        <p:spPr>
          <a:xfrm>
            <a:off x="609600" y="5772150"/>
            <a:ext cx="10972800" cy="3048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2F5D46"/>
                </a:solidFill>
                <a:latin typeface="Microsoft YaHei"/>
                <a:ea typeface="Microsoft YaHei"/>
              </a:rPr>
              <a:t>原则：人在回路默认开启，自治权按风险逐级授予（L1 辅助 → L4 受控自治）。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4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972C561A-A32A-43B0-B07F-FAD3054F7DBE}"/>
              </a:ext>
            </a:extLst>
          </p:cNvPr>
          <p:cNvSpPr txBox="1"/>
          <p:nvPr/>
        </p:nvSpPr>
        <p:spPr>
          <a:xfrm>
            <a:off x="609600" y="495300"/>
            <a:ext cx="3810000" cy="2667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2F5D46"/>
                </a:solidFill>
                <a:latin typeface="Microsoft YaHei"/>
                <a:ea typeface="Microsoft YaHei"/>
              </a:rPr>
              <a:t>系统架构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255ECF4C-F05E-408D-B230-AF18DFCF916F}"/>
              </a:ext>
            </a:extLst>
          </p:cNvPr>
          <p:cNvSpPr txBox="1"/>
          <p:nvPr/>
        </p:nvSpPr>
        <p:spPr>
          <a:xfrm>
            <a:off x="609600" y="800100"/>
            <a:ext cx="11049000" cy="6858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3600" b="1">
                <a:solidFill>
                  <a:srgbClr val="26302A"/>
                </a:solidFill>
                <a:latin typeface="Microsoft YaHei"/>
                <a:ea typeface="Microsoft YaHei"/>
              </a:rPr>
              <a:t>六层架构：从村民到基础设施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CE727C14-B298-46D4-9F97-9FF7E6038A89}"/>
              </a:ext>
            </a:extLst>
          </p:cNvPr>
          <p:cNvSpPr txBox="1"/>
          <p:nvPr/>
        </p:nvSpPr>
        <p:spPr>
          <a:xfrm>
            <a:off x="609600" y="1714500"/>
            <a:ext cx="1238250" cy="2667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2F5D46"/>
                </a:solidFill>
                <a:latin typeface="Microsoft YaHei"/>
                <a:ea typeface="Microsoft YaHei"/>
              </a:rPr>
              <a:t>使用者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25D431DF-DC2E-494E-AE3C-A8723D3C4398}"/>
              </a:ext>
            </a:extLst>
          </p:cNvPr>
          <p:cNvSpPr/>
          <p:nvPr/>
        </p:nvSpPr>
        <p:spPr>
          <a:xfrm>
            <a:off x="2000250" y="1619250"/>
            <a:ext cx="9582150" cy="62865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CCB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0CFAD339-3306-4248-BFD2-FB1DE520A003}"/>
              </a:ext>
            </a:extLst>
          </p:cNvPr>
          <p:cNvSpPr txBox="1"/>
          <p:nvPr/>
        </p:nvSpPr>
        <p:spPr>
          <a:xfrm>
            <a:off x="2228850" y="1809750"/>
            <a:ext cx="9124950" cy="2857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400">
                <a:solidFill>
                  <a:srgbClr val="26302A"/>
                </a:solidFill>
                <a:latin typeface="Microsoft YaHei"/>
                <a:ea typeface="Microsoft YaHei"/>
              </a:rPr>
              <a:t>农户 · 入库员 · 消费者 · 审计员 · 管理员 ｜ 老人可用方言语音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87EA6619-0B49-4C90-9C7E-91925B5CBA0D}"/>
              </a:ext>
            </a:extLst>
          </p:cNvPr>
          <p:cNvSpPr txBox="1"/>
          <p:nvPr/>
        </p:nvSpPr>
        <p:spPr>
          <a:xfrm>
            <a:off x="609600" y="2457450"/>
            <a:ext cx="1238250" cy="2667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2F5D46"/>
                </a:solidFill>
                <a:latin typeface="Microsoft YaHei"/>
                <a:ea typeface="Microsoft YaHei"/>
              </a:rPr>
              <a:t>交互层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3D62C7C2-2609-40D4-AC5D-648067730FB1}"/>
              </a:ext>
            </a:extLst>
          </p:cNvPr>
          <p:cNvSpPr/>
          <p:nvPr/>
        </p:nvSpPr>
        <p:spPr>
          <a:xfrm>
            <a:off x="2000250" y="2362200"/>
            <a:ext cx="9582150" cy="62865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CCB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EDB29134-1E9F-4680-B902-92BEB05E700A}"/>
              </a:ext>
            </a:extLst>
          </p:cNvPr>
          <p:cNvSpPr txBox="1"/>
          <p:nvPr/>
        </p:nvSpPr>
        <p:spPr>
          <a:xfrm>
            <a:off x="2228850" y="2552700"/>
            <a:ext cx="9124950" cy="2857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400">
                <a:solidFill>
                  <a:srgbClr val="26302A"/>
                </a:solidFill>
                <a:latin typeface="Microsoft YaHei"/>
                <a:ea typeface="Microsoft YaHei"/>
              </a:rPr>
              <a:t>官网 web/（内容 D2C） · 数字工作台 dashboard/ · 方言语音 ASR/TTS · 小程序 / H5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C479118B-E99D-4C8F-8164-A6479D331BE6}"/>
              </a:ext>
            </a:extLst>
          </p:cNvPr>
          <p:cNvSpPr txBox="1"/>
          <p:nvPr/>
        </p:nvSpPr>
        <p:spPr>
          <a:xfrm>
            <a:off x="609600" y="3200400"/>
            <a:ext cx="1238250" cy="2667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2F5D46"/>
                </a:solidFill>
                <a:latin typeface="Microsoft YaHei"/>
                <a:ea typeface="Microsoft YaHei"/>
              </a:rPr>
              <a:t>Agent 层</a:t>
            </a:r>
          </a:p>
        </p:txBody>
      </p:sp>
      <p:sp>
        <p:nvSpPr>
          <p:cNvPr id="12" name="Shape 12">
            <a:extLst>
              <a:ext uri="{FF2B5EF4-FFF2-40B4-BE49-F238E27FC236}">
                <a16:creationId xmlns:a16="http://schemas.microsoft.com/office/drawing/2014/main" id="{A66D2C07-7A3D-4960-8464-3E27BE24A8B8}"/>
              </a:ext>
            </a:extLst>
          </p:cNvPr>
          <p:cNvSpPr/>
          <p:nvPr/>
        </p:nvSpPr>
        <p:spPr>
          <a:xfrm>
            <a:off x="2000250" y="3105150"/>
            <a:ext cx="9582150" cy="628650"/>
          </a:xfrm>
          <a:prstGeom prst="roundRect">
            <a:avLst/>
          </a:prstGeom>
          <a:solidFill>
            <a:srgbClr val="2F5D46"/>
          </a:solidFill>
          <a:ln w="12700">
            <a:solidFill>
              <a:srgbClr val="2F5D46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B8D0F726-61C9-457C-BD13-3B6A24F7147B}"/>
              </a:ext>
            </a:extLst>
          </p:cNvPr>
          <p:cNvSpPr txBox="1"/>
          <p:nvPr/>
        </p:nvSpPr>
        <p:spPr>
          <a:xfrm>
            <a:off x="2228850" y="3295650"/>
            <a:ext cx="9124950" cy="2857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400">
                <a:solidFill>
                  <a:srgbClr val="F5F1E6"/>
                </a:solidFill>
                <a:latin typeface="Microsoft YaHei"/>
                <a:ea typeface="Microsoft YaHei"/>
              </a:rPr>
              <a:t>角色 Agent × 5（嵌入工作台） · 职能 Agent × 5（预警/知识/调度/内容/合规） · 契约卡锁定边界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BA8617B9-B0E1-44DF-BB24-EEEE86F4CF25}"/>
              </a:ext>
            </a:extLst>
          </p:cNvPr>
          <p:cNvSpPr txBox="1"/>
          <p:nvPr/>
        </p:nvSpPr>
        <p:spPr>
          <a:xfrm>
            <a:off x="609600" y="3943350"/>
            <a:ext cx="1238250" cy="2667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2F5D46"/>
                </a:solidFill>
                <a:latin typeface="Microsoft YaHei"/>
                <a:ea typeface="Microsoft YaHei"/>
              </a:rPr>
              <a:t>编排层</a:t>
            </a:r>
          </a:p>
        </p:txBody>
      </p:sp>
      <p:sp>
        <p:nvSpPr>
          <p:cNvPr id="15" name="Shape 15">
            <a:extLst>
              <a:ext uri="{FF2B5EF4-FFF2-40B4-BE49-F238E27FC236}">
                <a16:creationId xmlns:a16="http://schemas.microsoft.com/office/drawing/2014/main" id="{3E6436B0-E622-420A-87F6-0F4B3E91BEEB}"/>
              </a:ext>
            </a:extLst>
          </p:cNvPr>
          <p:cNvSpPr/>
          <p:nvPr/>
        </p:nvSpPr>
        <p:spPr>
          <a:xfrm>
            <a:off x="2000250" y="3848100"/>
            <a:ext cx="9582150" cy="62865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CCB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FB08EA82-7257-471B-8963-D9DD55CD8675}"/>
              </a:ext>
            </a:extLst>
          </p:cNvPr>
          <p:cNvSpPr txBox="1"/>
          <p:nvPr/>
        </p:nvSpPr>
        <p:spPr>
          <a:xfrm>
            <a:off x="2228850" y="4038600"/>
            <a:ext cx="9124950" cy="2857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400">
                <a:solidFill>
                  <a:srgbClr val="26302A"/>
                </a:solidFill>
                <a:latin typeface="Microsoft YaHei"/>
                <a:ea typeface="Microsoft YaHei"/>
              </a:rPr>
              <a:t>LangGraph 编排器 · 工具网关 · 模型网关 · RAG 检索 · 安全护栏 · 事件总线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52400126-6DFB-4875-8FA1-45C2D8DB956E}"/>
              </a:ext>
            </a:extLst>
          </p:cNvPr>
          <p:cNvSpPr txBox="1"/>
          <p:nvPr/>
        </p:nvSpPr>
        <p:spPr>
          <a:xfrm>
            <a:off x="609600" y="4686300"/>
            <a:ext cx="1238250" cy="2667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2F5D46"/>
                </a:solidFill>
                <a:latin typeface="Microsoft YaHei"/>
                <a:ea typeface="Microsoft YaHei"/>
              </a:rPr>
              <a:t>数据层</a:t>
            </a:r>
          </a:p>
        </p:txBody>
      </p:sp>
      <p:sp>
        <p:nvSpPr>
          <p:cNvPr id="18" name="Shape 18">
            <a:extLst>
              <a:ext uri="{FF2B5EF4-FFF2-40B4-BE49-F238E27FC236}">
                <a16:creationId xmlns:a16="http://schemas.microsoft.com/office/drawing/2014/main" id="{6FDB6EE8-8E27-4F71-8B28-E71F2A477D16}"/>
              </a:ext>
            </a:extLst>
          </p:cNvPr>
          <p:cNvSpPr/>
          <p:nvPr/>
        </p:nvSpPr>
        <p:spPr>
          <a:xfrm>
            <a:off x="2000250" y="4591050"/>
            <a:ext cx="9582150" cy="62865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CCB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C9823B1E-2119-4429-9350-5DD9ACF432D3}"/>
              </a:ext>
            </a:extLst>
          </p:cNvPr>
          <p:cNvSpPr txBox="1"/>
          <p:nvPr/>
        </p:nvSpPr>
        <p:spPr>
          <a:xfrm>
            <a:off x="2228850" y="4781550"/>
            <a:ext cx="9124950" cy="2857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400">
                <a:solidFill>
                  <a:srgbClr val="26302A"/>
                </a:solidFill>
                <a:latin typeface="Microsoft YaHei"/>
                <a:ea typeface="Microsoft YaHei"/>
              </a:rPr>
              <a:t>PostgreSQL 业务真相 · pgvector 知识索引 · 知识库 · 对象存储 · 审计库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C2B58942-2FB7-47E6-A79D-5A85D8DBE2AE}"/>
              </a:ext>
            </a:extLst>
          </p:cNvPr>
          <p:cNvSpPr txBox="1"/>
          <p:nvPr/>
        </p:nvSpPr>
        <p:spPr>
          <a:xfrm>
            <a:off x="609600" y="5429250"/>
            <a:ext cx="1238250" cy="2667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2F5D46"/>
                </a:solidFill>
                <a:latin typeface="Microsoft YaHei"/>
                <a:ea typeface="Microsoft YaHei"/>
              </a:rPr>
              <a:t>基础设施</a:t>
            </a:r>
          </a:p>
        </p:txBody>
      </p:sp>
      <p:sp>
        <p:nvSpPr>
          <p:cNvPr id="21" name="Shape 21">
            <a:extLst>
              <a:ext uri="{FF2B5EF4-FFF2-40B4-BE49-F238E27FC236}">
                <a16:creationId xmlns:a16="http://schemas.microsoft.com/office/drawing/2014/main" id="{79745B7A-13A9-44EB-BE7A-7566B632BB3D}"/>
              </a:ext>
            </a:extLst>
          </p:cNvPr>
          <p:cNvSpPr/>
          <p:nvPr/>
        </p:nvSpPr>
        <p:spPr>
          <a:xfrm>
            <a:off x="2000250" y="5334000"/>
            <a:ext cx="9582150" cy="62865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CCB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F73B74D2-EC7E-4B5F-B395-97E6240215D0}"/>
              </a:ext>
            </a:extLst>
          </p:cNvPr>
          <p:cNvSpPr txBox="1"/>
          <p:nvPr/>
        </p:nvSpPr>
        <p:spPr>
          <a:xfrm>
            <a:off x="2228850" y="5524500"/>
            <a:ext cx="9124950" cy="2857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400">
                <a:solidFill>
                  <a:srgbClr val="26302A"/>
                </a:solidFill>
                <a:latin typeface="Microsoft YaHei"/>
                <a:ea typeface="Microsoft YaHei"/>
              </a:rPr>
              <a:t>CloudBase 托管 / 云函数 / 触发器 · CKafka / TDMQ（规模化） · 专用向量库 · 监控告警</a:t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99BB0146-F565-48B1-A242-08ED5D71767C}"/>
              </a:ext>
            </a:extLst>
          </p:cNvPr>
          <p:cNvSpPr txBox="1"/>
          <p:nvPr/>
        </p:nvSpPr>
        <p:spPr>
          <a:xfrm>
            <a:off x="609600" y="6172200"/>
            <a:ext cx="10972800" cy="2286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300">
                <a:solidFill>
                  <a:srgbClr val="6B746C"/>
                </a:solidFill>
                <a:latin typeface="Microsoft YaHei"/>
                <a:ea typeface="Microsoft YaHei"/>
              </a:rPr>
              <a:t>原则：业务真相只在 PostgreSQL；知识库与向量索引只做检索；研发知识不进入运行时。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4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5C2DF807-CEF7-4A7F-B920-3D2D62F0384A}"/>
              </a:ext>
            </a:extLst>
          </p:cNvPr>
          <p:cNvSpPr txBox="1"/>
          <p:nvPr/>
        </p:nvSpPr>
        <p:spPr>
          <a:xfrm>
            <a:off x="609600" y="495300"/>
            <a:ext cx="3810000" cy="2667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2F5D46"/>
                </a:solidFill>
                <a:latin typeface="Microsoft YaHei"/>
                <a:ea typeface="Microsoft YaHei"/>
              </a:rPr>
              <a:t>Agent 体系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E71403B9-D377-4E2C-BF54-D63E5A7BF3F1}"/>
              </a:ext>
            </a:extLst>
          </p:cNvPr>
          <p:cNvSpPr txBox="1"/>
          <p:nvPr/>
        </p:nvSpPr>
        <p:spPr>
          <a:xfrm>
            <a:off x="609600" y="800100"/>
            <a:ext cx="11049000" cy="6858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3600" b="1">
                <a:solidFill>
                  <a:srgbClr val="26302A"/>
                </a:solidFill>
                <a:latin typeface="Microsoft YaHei"/>
                <a:ea typeface="Microsoft YaHei"/>
              </a:rPr>
              <a:t>5 个角色助手 + 5 个职能 Agent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A8ED80B7-E9B7-4B15-94A9-4BA039905CBC}"/>
              </a:ext>
            </a:extLst>
          </p:cNvPr>
          <p:cNvSpPr/>
          <p:nvPr/>
        </p:nvSpPr>
        <p:spPr>
          <a:xfrm>
            <a:off x="609600" y="1714500"/>
            <a:ext cx="5257800" cy="4191000"/>
          </a:xfrm>
          <a:prstGeom prst="roundRect">
            <a:avLst/>
          </a:prstGeom>
          <a:solidFill>
            <a:srgbClr val="2F5D46"/>
          </a:solidFill>
          <a:ln w="12700">
            <a:solidFill>
              <a:srgbClr val="2F5D46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E1EF81D5-A308-4C33-B853-61B4EDE5380F}"/>
              </a:ext>
            </a:extLst>
          </p:cNvPr>
          <p:cNvSpPr txBox="1"/>
          <p:nvPr/>
        </p:nvSpPr>
        <p:spPr>
          <a:xfrm>
            <a:off x="914400" y="1981200"/>
            <a:ext cx="4648200" cy="33528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F5F1E6"/>
                </a:solidFill>
                <a:latin typeface="Microsoft YaHei"/>
                <a:ea typeface="Microsoft YaHei"/>
              </a:rPr>
              <a:t>角色 Agent · 嵌入五个工作台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B0F4CCAD-0DFF-4A4F-A085-424F738A726E}"/>
              </a:ext>
            </a:extLst>
          </p:cNvPr>
          <p:cNvSpPr txBox="1"/>
          <p:nvPr/>
        </p:nvSpPr>
        <p:spPr>
          <a:xfrm>
            <a:off x="914400" y="2533650"/>
            <a:ext cx="4648200" cy="2667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F5F1E6"/>
                </a:solidFill>
                <a:latin typeface="Microsoft YaHei"/>
                <a:ea typeface="Microsoft YaHei"/>
              </a:rPr>
              <a:t>农户助手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B8CA6F88-9A53-4F8C-A607-5EF5B087ADFF}"/>
              </a:ext>
            </a:extLst>
          </p:cNvPr>
          <p:cNvSpPr txBox="1"/>
          <p:nvPr/>
        </p:nvSpPr>
        <p:spPr>
          <a:xfrm>
            <a:off x="914400" y="2800350"/>
            <a:ext cx="4648200" cy="2286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300">
                <a:solidFill>
                  <a:srgbClr val="D8DFD6"/>
                </a:solidFill>
                <a:latin typeface="Microsoft YaHei"/>
                <a:ea typeface="Microsoft YaHei"/>
              </a:rPr>
              <a:t>农技问答、病虫害初判、农事记录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6080FD92-6B5F-4E4B-A297-63FBBB099570}"/>
              </a:ext>
            </a:extLst>
          </p:cNvPr>
          <p:cNvSpPr txBox="1"/>
          <p:nvPr/>
        </p:nvSpPr>
        <p:spPr>
          <a:xfrm>
            <a:off x="914400" y="3181350"/>
            <a:ext cx="4648200" cy="2667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F5F1E6"/>
                </a:solidFill>
                <a:latin typeface="Microsoft YaHei"/>
                <a:ea typeface="Microsoft YaHei"/>
              </a:rPr>
              <a:t>入库员助手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371F14D2-B478-4653-B91E-CF346E63FC74}"/>
              </a:ext>
            </a:extLst>
          </p:cNvPr>
          <p:cNvSpPr txBox="1"/>
          <p:nvPr/>
        </p:nvSpPr>
        <p:spPr>
          <a:xfrm>
            <a:off x="914400" y="3448050"/>
            <a:ext cx="4648200" cy="2286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300">
                <a:solidFill>
                  <a:srgbClr val="D8DFD6"/>
                </a:solidFill>
                <a:latin typeface="Microsoft YaHei"/>
                <a:ea typeface="Microsoft YaHei"/>
              </a:rPr>
              <a:t>质检标准、批次登记、发布辅助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1D7C20F3-B36F-4ED4-839A-5514FA8427BC}"/>
              </a:ext>
            </a:extLst>
          </p:cNvPr>
          <p:cNvSpPr txBox="1"/>
          <p:nvPr/>
        </p:nvSpPr>
        <p:spPr>
          <a:xfrm>
            <a:off x="914400" y="3829050"/>
            <a:ext cx="4648200" cy="2667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F5F1E6"/>
                </a:solidFill>
                <a:latin typeface="Microsoft YaHei"/>
                <a:ea typeface="Microsoft YaHei"/>
              </a:rPr>
              <a:t>消费者助手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D4E58557-6842-4DDF-B7B7-C6D5405C1CB3}"/>
              </a:ext>
            </a:extLst>
          </p:cNvPr>
          <p:cNvSpPr txBox="1"/>
          <p:nvPr/>
        </p:nvSpPr>
        <p:spPr>
          <a:xfrm>
            <a:off x="914400" y="4095750"/>
            <a:ext cx="4648200" cy="2286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300">
                <a:solidFill>
                  <a:srgbClr val="D8DFD6"/>
                </a:solidFill>
                <a:latin typeface="Microsoft YaHei"/>
                <a:ea typeface="Microsoft YaHei"/>
              </a:rPr>
              <a:t>导购、溯源查询、预约跟踪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816CC20A-FD0F-46CD-A097-5DEB78449FC1}"/>
              </a:ext>
            </a:extLst>
          </p:cNvPr>
          <p:cNvSpPr txBox="1"/>
          <p:nvPr/>
        </p:nvSpPr>
        <p:spPr>
          <a:xfrm>
            <a:off x="914400" y="4476750"/>
            <a:ext cx="4648200" cy="2667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F5F1E6"/>
                </a:solidFill>
                <a:latin typeface="Microsoft YaHei"/>
                <a:ea typeface="Microsoft YaHei"/>
              </a:rPr>
              <a:t>审计员助手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B51F2F0F-DC4A-4AFF-95A4-BBAB7BE6BA14}"/>
              </a:ext>
            </a:extLst>
          </p:cNvPr>
          <p:cNvSpPr txBox="1"/>
          <p:nvPr/>
        </p:nvSpPr>
        <p:spPr>
          <a:xfrm>
            <a:off x="914400" y="4743450"/>
            <a:ext cx="4648200" cy="2286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300">
                <a:solidFill>
                  <a:srgbClr val="D8DFD6"/>
                </a:solidFill>
                <a:latin typeface="Microsoft YaHei"/>
                <a:ea typeface="Microsoft YaHei"/>
              </a:rPr>
              <a:t>异常检测、抽样建议、报告草稿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624EBD74-DF6C-4330-B641-DFCAC5A78B61}"/>
              </a:ext>
            </a:extLst>
          </p:cNvPr>
          <p:cNvSpPr txBox="1"/>
          <p:nvPr/>
        </p:nvSpPr>
        <p:spPr>
          <a:xfrm>
            <a:off x="914400" y="5124450"/>
            <a:ext cx="4648200" cy="2667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F5F1E6"/>
                </a:solidFill>
                <a:latin typeface="Microsoft YaHei"/>
                <a:ea typeface="Microsoft YaHei"/>
              </a:rPr>
              <a:t>管理员助手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D17D9B1-77EC-43E9-A42A-90A133A34345}"/>
              </a:ext>
            </a:extLst>
          </p:cNvPr>
          <p:cNvSpPr txBox="1"/>
          <p:nvPr/>
        </p:nvSpPr>
        <p:spPr>
          <a:xfrm>
            <a:off x="914400" y="5391150"/>
            <a:ext cx="4648200" cy="2286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300">
                <a:solidFill>
                  <a:srgbClr val="D8DFD6"/>
                </a:solidFill>
                <a:latin typeface="Microsoft YaHei"/>
                <a:ea typeface="Microsoft YaHei"/>
              </a:rPr>
              <a:t>授权建议、系统健康、运营分析</a:t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E9687CF5-D2ED-40D0-B177-8C6D8F794F91}"/>
              </a:ext>
            </a:extLst>
          </p:cNvPr>
          <p:cNvSpPr/>
          <p:nvPr/>
        </p:nvSpPr>
        <p:spPr>
          <a:xfrm>
            <a:off x="6324600" y="1714500"/>
            <a:ext cx="5257800" cy="4191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CCB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318AC02A-1BC1-4FDC-887E-42D59B2D55C8}"/>
              </a:ext>
            </a:extLst>
          </p:cNvPr>
          <p:cNvSpPr txBox="1"/>
          <p:nvPr/>
        </p:nvSpPr>
        <p:spPr>
          <a:xfrm>
            <a:off x="6629400" y="1981200"/>
            <a:ext cx="4648200" cy="33528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2F5D46"/>
                </a:solidFill>
                <a:latin typeface="Microsoft YaHei"/>
                <a:ea typeface="Microsoft YaHei"/>
              </a:rPr>
              <a:t>职能 Agent · 跨角色后台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13E11DF7-CD70-49CB-8A73-4EE597DAE7AD}"/>
              </a:ext>
            </a:extLst>
          </p:cNvPr>
          <p:cNvSpPr txBox="1"/>
          <p:nvPr/>
        </p:nvSpPr>
        <p:spPr>
          <a:xfrm>
            <a:off x="6629400" y="2533650"/>
            <a:ext cx="4648200" cy="2667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26302A"/>
                </a:solidFill>
                <a:latin typeface="Microsoft YaHei"/>
                <a:ea typeface="Microsoft YaHei"/>
              </a:rPr>
              <a:t>预警哨兵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C611A4AD-0AB2-45B8-A896-013E45DCCF21}"/>
              </a:ext>
            </a:extLst>
          </p:cNvPr>
          <p:cNvSpPr txBox="1"/>
          <p:nvPr/>
        </p:nvSpPr>
        <p:spPr>
          <a:xfrm>
            <a:off x="6629400" y="2800350"/>
            <a:ext cx="4648200" cy="2286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300">
                <a:solidFill>
                  <a:srgbClr val="6B746C"/>
                </a:solidFill>
                <a:latin typeface="Microsoft YaHei"/>
                <a:ea typeface="Microsoft YaHei"/>
              </a:rPr>
              <a:t>病虫害、气象、价格、异常交易监测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AEA4BF01-66A1-4D5E-94AA-27872FE9E343}"/>
              </a:ext>
            </a:extLst>
          </p:cNvPr>
          <p:cNvSpPr txBox="1"/>
          <p:nvPr/>
        </p:nvSpPr>
        <p:spPr>
          <a:xfrm>
            <a:off x="6629400" y="3181350"/>
            <a:ext cx="4648200" cy="2667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26302A"/>
                </a:solidFill>
                <a:latin typeface="Microsoft YaHei"/>
                <a:ea typeface="Microsoft YaHei"/>
              </a:rPr>
              <a:t>知识管家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DFD43F65-6E6C-4A02-8DA5-D5E57146FC0D}"/>
              </a:ext>
            </a:extLst>
          </p:cNvPr>
          <p:cNvSpPr txBox="1"/>
          <p:nvPr/>
        </p:nvSpPr>
        <p:spPr>
          <a:xfrm>
            <a:off x="6629400" y="3448050"/>
            <a:ext cx="4648200" cy="2286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300">
                <a:solidFill>
                  <a:srgbClr val="6B746C"/>
                </a:solidFill>
                <a:latin typeface="Microsoft YaHei"/>
                <a:ea typeface="Microsoft YaHei"/>
              </a:rPr>
              <a:t>知识采集、去重、版本与失效检测</a:t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5ED0EEC4-AC0C-4656-9B6A-8BCC83F35D61}"/>
              </a:ext>
            </a:extLst>
          </p:cNvPr>
          <p:cNvSpPr txBox="1"/>
          <p:nvPr/>
        </p:nvSpPr>
        <p:spPr>
          <a:xfrm>
            <a:off x="6629400" y="3829050"/>
            <a:ext cx="4648200" cy="2667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26302A"/>
                </a:solidFill>
                <a:latin typeface="Microsoft YaHei"/>
                <a:ea typeface="Microsoft YaHei"/>
              </a:rPr>
              <a:t>调度员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54FAFAA8-9A93-4D17-A3BF-AEFE75EED6AD}"/>
              </a:ext>
            </a:extLst>
          </p:cNvPr>
          <p:cNvSpPr txBox="1"/>
          <p:nvPr/>
        </p:nvSpPr>
        <p:spPr>
          <a:xfrm>
            <a:off x="6629400" y="4095750"/>
            <a:ext cx="4648200" cy="2286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300">
                <a:solidFill>
                  <a:srgbClr val="6B746C"/>
                </a:solidFill>
                <a:latin typeface="Microsoft YaHei"/>
                <a:ea typeface="Microsoft YaHei"/>
              </a:rPr>
              <a:t>订单与服务工单的资源匹配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3A1F4B49-EBF5-42CD-A963-96F2CA309CB9}"/>
              </a:ext>
            </a:extLst>
          </p:cNvPr>
          <p:cNvSpPr txBox="1"/>
          <p:nvPr/>
        </p:nvSpPr>
        <p:spPr>
          <a:xfrm>
            <a:off x="6629400" y="4476750"/>
            <a:ext cx="4648200" cy="2667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26302A"/>
                </a:solidFill>
                <a:latin typeface="Microsoft YaHei"/>
                <a:ea typeface="Microsoft YaHei"/>
              </a:rPr>
              <a:t>内容编辑</a:t>
            </a:r>
          </a:p>
        </p:txBody>
      </p:sp>
      <p:sp>
        <p:nvSpPr>
          <p:cNvPr id="26" name="TextBox 26">
            <a:extLst>
              <a:ext uri="{FF2B5EF4-FFF2-40B4-BE49-F238E27FC236}">
                <a16:creationId xmlns:a16="http://schemas.microsoft.com/office/drawing/2014/main" id="{B958582D-0492-49FF-B934-D1DDE27EC3B1}"/>
              </a:ext>
            </a:extLst>
          </p:cNvPr>
          <p:cNvSpPr txBox="1"/>
          <p:nvPr/>
        </p:nvSpPr>
        <p:spPr>
          <a:xfrm>
            <a:off x="6629400" y="4743450"/>
            <a:ext cx="4648200" cy="2286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300">
                <a:solidFill>
                  <a:srgbClr val="6B746C"/>
                </a:solidFill>
                <a:latin typeface="Microsoft YaHei"/>
                <a:ea typeface="Microsoft YaHei"/>
              </a:rPr>
              <a:t>官网与短视频文案、合规检查</a:t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FB698FBA-D522-4BFA-AB66-3571244D5B29}"/>
              </a:ext>
            </a:extLst>
          </p:cNvPr>
          <p:cNvSpPr txBox="1"/>
          <p:nvPr/>
        </p:nvSpPr>
        <p:spPr>
          <a:xfrm>
            <a:off x="6629400" y="5124450"/>
            <a:ext cx="4648200" cy="2667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26302A"/>
                </a:solidFill>
                <a:latin typeface="Microsoft YaHei"/>
                <a:ea typeface="Microsoft YaHei"/>
              </a:rPr>
              <a:t>合规审查</a:t>
            </a:r>
          </a:p>
        </p:txBody>
      </p:sp>
      <p:sp>
        <p:nvSpPr>
          <p:cNvPr id="28" name="TextBox 28">
            <a:extLst>
              <a:ext uri="{FF2B5EF4-FFF2-40B4-BE49-F238E27FC236}">
                <a16:creationId xmlns:a16="http://schemas.microsoft.com/office/drawing/2014/main" id="{D7534105-ABC5-429D-9697-3193FF4712E7}"/>
              </a:ext>
            </a:extLst>
          </p:cNvPr>
          <p:cNvSpPr txBox="1"/>
          <p:nvPr/>
        </p:nvSpPr>
        <p:spPr>
          <a:xfrm>
            <a:off x="6629400" y="5391150"/>
            <a:ext cx="4648200" cy="2286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300">
                <a:solidFill>
                  <a:srgbClr val="6B746C"/>
                </a:solidFill>
                <a:latin typeface="Microsoft YaHei"/>
                <a:ea typeface="Microsoft YaHei"/>
              </a:rPr>
              <a:t>对外输出审核与隐私检测</a:t>
            </a:r>
          </a:p>
        </p:txBody>
      </p:sp>
      <p:sp>
        <p:nvSpPr>
          <p:cNvPr id="29" name="TextBox 29">
            <a:extLst>
              <a:ext uri="{FF2B5EF4-FFF2-40B4-BE49-F238E27FC236}">
                <a16:creationId xmlns:a16="http://schemas.microsoft.com/office/drawing/2014/main" id="{60832E29-53C6-4FEA-B854-A613C2A4D7F3}"/>
              </a:ext>
            </a:extLst>
          </p:cNvPr>
          <p:cNvSpPr txBox="1"/>
          <p:nvPr/>
        </p:nvSpPr>
        <p:spPr>
          <a:xfrm>
            <a:off x="609600" y="6191250"/>
            <a:ext cx="10972800" cy="2286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300">
                <a:solidFill>
                  <a:srgbClr val="6B746C"/>
                </a:solidFill>
                <a:latin typeface="Microsoft YaHei"/>
                <a:ea typeface="Microsoft YaHei"/>
              </a:rPr>
              <a:t>协作方式：Agent 之间不直接互调，统一通过事件总线；低置信度按契约升级给人。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4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9B24F3BF-A020-4822-89BC-B513ED05A440}"/>
              </a:ext>
            </a:extLst>
          </p:cNvPr>
          <p:cNvSpPr txBox="1"/>
          <p:nvPr/>
        </p:nvSpPr>
        <p:spPr>
          <a:xfrm>
            <a:off x="609600" y="495300"/>
            <a:ext cx="3810000" cy="2667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2F5D46"/>
                </a:solidFill>
                <a:latin typeface="Microsoft YaHei"/>
                <a:ea typeface="Microsoft YaHei"/>
              </a:rPr>
              <a:t>Agent 契约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E3EB41BA-E97E-4163-BA8B-FD60B6C075C4}"/>
              </a:ext>
            </a:extLst>
          </p:cNvPr>
          <p:cNvSpPr txBox="1"/>
          <p:nvPr/>
        </p:nvSpPr>
        <p:spPr>
          <a:xfrm>
            <a:off x="609600" y="800100"/>
            <a:ext cx="11049000" cy="6858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3600" b="1">
                <a:solidFill>
                  <a:srgbClr val="26302A"/>
                </a:solidFill>
                <a:latin typeface="Microsoft YaHei"/>
                <a:ea typeface="Microsoft YaHei"/>
              </a:rPr>
              <a:t>边界先于智能：六要素契约卡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9698B115-8548-40BE-BB62-91C2A37F7EFD}"/>
              </a:ext>
            </a:extLst>
          </p:cNvPr>
          <p:cNvSpPr/>
          <p:nvPr/>
        </p:nvSpPr>
        <p:spPr>
          <a:xfrm>
            <a:off x="609600" y="1666875"/>
            <a:ext cx="3505200" cy="161925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CCB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DB91323F-A005-43F2-8940-F43ED6A6E4FC}"/>
              </a:ext>
            </a:extLst>
          </p:cNvPr>
          <p:cNvSpPr txBox="1"/>
          <p:nvPr/>
        </p:nvSpPr>
        <p:spPr>
          <a:xfrm>
            <a:off x="876300" y="1876425"/>
            <a:ext cx="571500" cy="2095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B8860B"/>
                </a:solidFill>
                <a:latin typeface="Georgia"/>
                <a:ea typeface="Georgia"/>
              </a:rPr>
              <a:t>01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9F399245-B813-4054-9560-4D1A74AFC6BD}"/>
              </a:ext>
            </a:extLst>
          </p:cNvPr>
          <p:cNvSpPr txBox="1"/>
          <p:nvPr/>
        </p:nvSpPr>
        <p:spPr>
          <a:xfrm>
            <a:off x="876300" y="2105025"/>
            <a:ext cx="2971800" cy="3048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26302A"/>
                </a:solidFill>
                <a:latin typeface="Microsoft YaHei"/>
                <a:ea typeface="Microsoft YaHei"/>
              </a:rPr>
              <a:t>数据范围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CDD1BDA2-CE90-4921-91AF-20A546E7D35E}"/>
              </a:ext>
            </a:extLst>
          </p:cNvPr>
          <p:cNvSpPr txBox="1"/>
          <p:nvPr/>
        </p:nvSpPr>
        <p:spPr>
          <a:xfrm>
            <a:off x="876300" y="2495550"/>
            <a:ext cx="2971800" cy="6667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300">
                <a:solidFill>
                  <a:srgbClr val="6B746C"/>
                </a:solidFill>
                <a:latin typeface="Microsoft YaHei"/>
                <a:ea typeface="Microsoft YaHei"/>
              </a:rPr>
              <a:t>表、字段、行级过滤与知识域标签，只给完成任务所需的数据。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66B66945-A5C8-4AE1-AC34-6A1ABB5E84F3}"/>
              </a:ext>
            </a:extLst>
          </p:cNvPr>
          <p:cNvSpPr/>
          <p:nvPr/>
        </p:nvSpPr>
        <p:spPr>
          <a:xfrm>
            <a:off x="4343400" y="1666875"/>
            <a:ext cx="3505200" cy="161925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CCB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E995ACBE-5CA6-4254-A222-D75713BDAAF9}"/>
              </a:ext>
            </a:extLst>
          </p:cNvPr>
          <p:cNvSpPr txBox="1"/>
          <p:nvPr/>
        </p:nvSpPr>
        <p:spPr>
          <a:xfrm>
            <a:off x="4610100" y="1876425"/>
            <a:ext cx="571500" cy="2095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B8860B"/>
                </a:solidFill>
                <a:latin typeface="Georgia"/>
                <a:ea typeface="Georgia"/>
              </a:rPr>
              <a:t>02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6D288A96-D3EB-462F-8D9B-AAF0BD55B473}"/>
              </a:ext>
            </a:extLst>
          </p:cNvPr>
          <p:cNvSpPr txBox="1"/>
          <p:nvPr/>
        </p:nvSpPr>
        <p:spPr>
          <a:xfrm>
            <a:off x="4610100" y="2105025"/>
            <a:ext cx="2971800" cy="3048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26302A"/>
                </a:solidFill>
                <a:latin typeface="Microsoft YaHei"/>
                <a:ea typeface="Microsoft YaHei"/>
              </a:rPr>
              <a:t>接口范围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CB84043C-B6F2-4935-BA4E-CD8E816139E8}"/>
              </a:ext>
            </a:extLst>
          </p:cNvPr>
          <p:cNvSpPr txBox="1"/>
          <p:nvPr/>
        </p:nvSpPr>
        <p:spPr>
          <a:xfrm>
            <a:off x="4610100" y="2495550"/>
            <a:ext cx="2971800" cy="6667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300">
                <a:solidFill>
                  <a:srgbClr val="6B746C"/>
                </a:solidFill>
                <a:latin typeface="Microsoft YaHei"/>
                <a:ea typeface="Microsoft YaHei"/>
              </a:rPr>
              <a:t>工具白名单 + 参数校验 + 速率与额度限制，写操作分级。</a:t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4D20B316-0B25-45C3-8286-E94BC2AB580A}"/>
              </a:ext>
            </a:extLst>
          </p:cNvPr>
          <p:cNvSpPr/>
          <p:nvPr/>
        </p:nvSpPr>
        <p:spPr>
          <a:xfrm>
            <a:off x="8077200" y="1666875"/>
            <a:ext cx="3505200" cy="161925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CCB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69732471-E6FB-4217-AC26-054C8B2BAFC5}"/>
              </a:ext>
            </a:extLst>
          </p:cNvPr>
          <p:cNvSpPr txBox="1"/>
          <p:nvPr/>
        </p:nvSpPr>
        <p:spPr>
          <a:xfrm>
            <a:off x="8343900" y="1876425"/>
            <a:ext cx="571500" cy="2095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B8860B"/>
                </a:solidFill>
                <a:latin typeface="Georgia"/>
                <a:ea typeface="Georgia"/>
              </a:rPr>
              <a:t>03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F0482E2C-3E1D-451A-81EA-2F84CCA705CD}"/>
              </a:ext>
            </a:extLst>
          </p:cNvPr>
          <p:cNvSpPr txBox="1"/>
          <p:nvPr/>
        </p:nvSpPr>
        <p:spPr>
          <a:xfrm>
            <a:off x="8343900" y="2105025"/>
            <a:ext cx="2971800" cy="3048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26302A"/>
                </a:solidFill>
                <a:latin typeface="Microsoft YaHei"/>
                <a:ea typeface="Microsoft YaHei"/>
              </a:rPr>
              <a:t>业务范围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0963B70-8FED-4462-895B-5F7ACB8DB042}"/>
              </a:ext>
            </a:extLst>
          </p:cNvPr>
          <p:cNvSpPr txBox="1"/>
          <p:nvPr/>
        </p:nvSpPr>
        <p:spPr>
          <a:xfrm>
            <a:off x="8343900" y="2495550"/>
            <a:ext cx="2971800" cy="6667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300">
                <a:solidFill>
                  <a:srgbClr val="6B746C"/>
                </a:solidFill>
                <a:latin typeface="Microsoft YaHei"/>
                <a:ea typeface="Microsoft YaHei"/>
              </a:rPr>
              <a:t>允许动作、禁止动作、升级条件，全部写进契约。</a:t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6BB377DC-46FE-4DED-BA8F-0E88A6030793}"/>
              </a:ext>
            </a:extLst>
          </p:cNvPr>
          <p:cNvSpPr/>
          <p:nvPr/>
        </p:nvSpPr>
        <p:spPr>
          <a:xfrm>
            <a:off x="609600" y="3476625"/>
            <a:ext cx="3505200" cy="161925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CCB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20159617-3C81-488E-8B89-4B668848912B}"/>
              </a:ext>
            </a:extLst>
          </p:cNvPr>
          <p:cNvSpPr txBox="1"/>
          <p:nvPr/>
        </p:nvSpPr>
        <p:spPr>
          <a:xfrm>
            <a:off x="876300" y="3686175"/>
            <a:ext cx="571500" cy="2095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B8860B"/>
                </a:solidFill>
                <a:latin typeface="Georgia"/>
                <a:ea typeface="Georgia"/>
              </a:rPr>
              <a:t>04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93C6B0DF-2C68-4030-9ABC-CABBF82D777D}"/>
              </a:ext>
            </a:extLst>
          </p:cNvPr>
          <p:cNvSpPr txBox="1"/>
          <p:nvPr/>
        </p:nvSpPr>
        <p:spPr>
          <a:xfrm>
            <a:off x="876300" y="3914775"/>
            <a:ext cx="2971800" cy="3048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26302A"/>
                </a:solidFill>
                <a:latin typeface="Microsoft YaHei"/>
                <a:ea typeface="Microsoft YaHei"/>
              </a:rPr>
              <a:t>任务监测点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06082A95-FEC3-4311-8B9E-91AEC26FA2B2}"/>
              </a:ext>
            </a:extLst>
          </p:cNvPr>
          <p:cNvSpPr txBox="1"/>
          <p:nvPr/>
        </p:nvSpPr>
        <p:spPr>
          <a:xfrm>
            <a:off x="876300" y="4305300"/>
            <a:ext cx="2971800" cy="6667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300">
                <a:solidFill>
                  <a:srgbClr val="6B746C"/>
                </a:solidFill>
                <a:latin typeface="Microsoft YaHei"/>
                <a:ea typeface="Microsoft YaHei"/>
              </a:rPr>
              <a:t>接收、规划、调用、升级、交付全链路留痕，阈值告警。</a:t>
            </a:r>
          </a:p>
        </p:txBody>
      </p:sp>
      <p:sp>
        <p:nvSpPr>
          <p:cNvPr id="21" name="Shape 21">
            <a:extLst>
              <a:ext uri="{FF2B5EF4-FFF2-40B4-BE49-F238E27FC236}">
                <a16:creationId xmlns:a16="http://schemas.microsoft.com/office/drawing/2014/main" id="{6EDA276E-5B10-43B2-9F2F-C75E676C2283}"/>
              </a:ext>
            </a:extLst>
          </p:cNvPr>
          <p:cNvSpPr/>
          <p:nvPr/>
        </p:nvSpPr>
        <p:spPr>
          <a:xfrm>
            <a:off x="4343400" y="3476625"/>
            <a:ext cx="3505200" cy="161925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CCB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675C7CB1-E7C9-405D-863B-89847722B089}"/>
              </a:ext>
            </a:extLst>
          </p:cNvPr>
          <p:cNvSpPr txBox="1"/>
          <p:nvPr/>
        </p:nvSpPr>
        <p:spPr>
          <a:xfrm>
            <a:off x="4610100" y="3686175"/>
            <a:ext cx="571500" cy="2095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B8860B"/>
                </a:solidFill>
                <a:latin typeface="Georgia"/>
                <a:ea typeface="Georgia"/>
              </a:rPr>
              <a:t>05</a:t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1FF438FE-87B3-4DCC-B97E-94D34004108B}"/>
              </a:ext>
            </a:extLst>
          </p:cNvPr>
          <p:cNvSpPr txBox="1"/>
          <p:nvPr/>
        </p:nvSpPr>
        <p:spPr>
          <a:xfrm>
            <a:off x="4610100" y="3914775"/>
            <a:ext cx="2971800" cy="3048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26302A"/>
                </a:solidFill>
                <a:latin typeface="Microsoft YaHei"/>
                <a:ea typeface="Microsoft YaHei"/>
              </a:rPr>
              <a:t>处理流程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FE6A2147-B9E9-4CE6-A4B8-B55102336D85}"/>
              </a:ext>
            </a:extLst>
          </p:cNvPr>
          <p:cNvSpPr txBox="1"/>
          <p:nvPr/>
        </p:nvSpPr>
        <p:spPr>
          <a:xfrm>
            <a:off x="4610100" y="4305300"/>
            <a:ext cx="2971800" cy="6667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300">
                <a:solidFill>
                  <a:srgbClr val="6B746C"/>
                </a:solidFill>
                <a:latin typeface="Microsoft YaHei"/>
                <a:ea typeface="Microsoft YaHei"/>
              </a:rPr>
              <a:t>显式状态机，非法跃迁直接拒绝，任务可回放。</a:t>
            </a:r>
          </a:p>
        </p:txBody>
      </p:sp>
      <p:sp>
        <p:nvSpPr>
          <p:cNvPr id="25" name="Shape 25">
            <a:extLst>
              <a:ext uri="{FF2B5EF4-FFF2-40B4-BE49-F238E27FC236}">
                <a16:creationId xmlns:a16="http://schemas.microsoft.com/office/drawing/2014/main" id="{3B3603B7-4EF3-459F-AD1C-DE97F0BBAF68}"/>
              </a:ext>
            </a:extLst>
          </p:cNvPr>
          <p:cNvSpPr/>
          <p:nvPr/>
        </p:nvSpPr>
        <p:spPr>
          <a:xfrm>
            <a:off x="8077200" y="3476625"/>
            <a:ext cx="3505200" cy="161925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CCB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6" name="TextBox 26">
            <a:extLst>
              <a:ext uri="{FF2B5EF4-FFF2-40B4-BE49-F238E27FC236}">
                <a16:creationId xmlns:a16="http://schemas.microsoft.com/office/drawing/2014/main" id="{8AD9AB05-BAC5-4E32-AF52-A4350BE24E8C}"/>
              </a:ext>
            </a:extLst>
          </p:cNvPr>
          <p:cNvSpPr txBox="1"/>
          <p:nvPr/>
        </p:nvSpPr>
        <p:spPr>
          <a:xfrm>
            <a:off x="8343900" y="3686175"/>
            <a:ext cx="571500" cy="2095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B8860B"/>
                </a:solidFill>
                <a:latin typeface="Georgia"/>
                <a:ea typeface="Georgia"/>
              </a:rPr>
              <a:t>06</a:t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858637D3-B58D-4AC0-BA70-EDD82AAD4D34}"/>
              </a:ext>
            </a:extLst>
          </p:cNvPr>
          <p:cNvSpPr txBox="1"/>
          <p:nvPr/>
        </p:nvSpPr>
        <p:spPr>
          <a:xfrm>
            <a:off x="8343900" y="3914775"/>
            <a:ext cx="2971800" cy="3048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26302A"/>
                </a:solidFill>
                <a:latin typeface="Microsoft YaHei"/>
                <a:ea typeface="Microsoft YaHei"/>
              </a:rPr>
              <a:t>自治等级</a:t>
            </a:r>
          </a:p>
        </p:txBody>
      </p:sp>
      <p:sp>
        <p:nvSpPr>
          <p:cNvPr id="28" name="TextBox 28">
            <a:extLst>
              <a:ext uri="{FF2B5EF4-FFF2-40B4-BE49-F238E27FC236}">
                <a16:creationId xmlns:a16="http://schemas.microsoft.com/office/drawing/2014/main" id="{362085DA-F2AA-45E1-B89E-346CDF7B7BC9}"/>
              </a:ext>
            </a:extLst>
          </p:cNvPr>
          <p:cNvSpPr txBox="1"/>
          <p:nvPr/>
        </p:nvSpPr>
        <p:spPr>
          <a:xfrm>
            <a:off x="8343900" y="4305300"/>
            <a:ext cx="2971800" cy="6667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300">
                <a:solidFill>
                  <a:srgbClr val="6B746C"/>
                </a:solidFill>
                <a:latin typeface="Microsoft YaHei"/>
                <a:ea typeface="Microsoft YaHei"/>
              </a:rPr>
              <a:t>L1 辅助 → L2 建议 → L3 低风险自动 → L4 受控自治。</a:t>
            </a:r>
          </a:p>
        </p:txBody>
      </p:sp>
      <p:sp>
        <p:nvSpPr>
          <p:cNvPr id="29" name="TextBox 29">
            <a:extLst>
              <a:ext uri="{FF2B5EF4-FFF2-40B4-BE49-F238E27FC236}">
                <a16:creationId xmlns:a16="http://schemas.microsoft.com/office/drawing/2014/main" id="{6813326F-7B02-4499-892B-2DAA69970B8B}"/>
              </a:ext>
            </a:extLst>
          </p:cNvPr>
          <p:cNvSpPr txBox="1"/>
          <p:nvPr/>
        </p:nvSpPr>
        <p:spPr>
          <a:xfrm>
            <a:off x="609600" y="5581650"/>
            <a:ext cx="10972800" cy="4572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B8860B"/>
                </a:solidFill>
                <a:latin typeface="Microsoft YaHei"/>
                <a:ea typeface="Microsoft YaHei"/>
              </a:rPr>
              <a:t>Agent 权限 = 人类角色权限 ∩ 契约卡范围，永远取交集、不放大。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4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1FCA4973-E6A9-4174-9FFA-79BF57C6C346}"/>
              </a:ext>
            </a:extLst>
          </p:cNvPr>
          <p:cNvSpPr txBox="1"/>
          <p:nvPr/>
        </p:nvSpPr>
        <p:spPr>
          <a:xfrm>
            <a:off x="609600" y="495300"/>
            <a:ext cx="3810000" cy="2667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2F5D46"/>
                </a:solidFill>
                <a:latin typeface="Microsoft YaHei"/>
                <a:ea typeface="Microsoft YaHei"/>
              </a:rPr>
              <a:t>场景选择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324D4708-0DDE-4128-8ADF-FDBECD57BA69}"/>
              </a:ext>
            </a:extLst>
          </p:cNvPr>
          <p:cNvSpPr txBox="1"/>
          <p:nvPr/>
        </p:nvSpPr>
        <p:spPr>
          <a:xfrm>
            <a:off x="609600" y="800100"/>
            <a:ext cx="11049000" cy="6858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3600" b="1">
                <a:solidFill>
                  <a:srgbClr val="26302A"/>
                </a:solidFill>
                <a:latin typeface="Microsoft YaHei"/>
                <a:ea typeface="Microsoft YaHei"/>
              </a:rPr>
              <a:t>场景优先级：先打四个能站住的点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C5F52B9A-6156-418F-98D8-6E8230A6C923}"/>
              </a:ext>
            </a:extLst>
          </p:cNvPr>
          <p:cNvSpPr/>
          <p:nvPr/>
        </p:nvSpPr>
        <p:spPr>
          <a:xfrm>
            <a:off x="609600" y="1666875"/>
            <a:ext cx="3505200" cy="4095750"/>
          </a:xfrm>
          <a:prstGeom prst="roundRect">
            <a:avLst/>
          </a:prstGeom>
          <a:solidFill>
            <a:srgbClr val="2F5D46"/>
          </a:solidFill>
          <a:ln w="12700">
            <a:solidFill>
              <a:srgbClr val="2F5D46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763CFC10-F81B-4CEE-BE9D-F5FCEF10872D}"/>
              </a:ext>
            </a:extLst>
          </p:cNvPr>
          <p:cNvSpPr txBox="1"/>
          <p:nvPr/>
        </p:nvSpPr>
        <p:spPr>
          <a:xfrm>
            <a:off x="876300" y="1933575"/>
            <a:ext cx="2971800" cy="3238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F5F1E6"/>
                </a:solidFill>
                <a:latin typeface="Microsoft YaHei"/>
                <a:ea typeface="Microsoft YaHei"/>
              </a:rPr>
              <a:t>P0 · 0—6 个月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066AC340-F7A7-4305-AFA9-7B46DB2230F3}"/>
              </a:ext>
            </a:extLst>
          </p:cNvPr>
          <p:cNvSpPr txBox="1"/>
          <p:nvPr/>
        </p:nvSpPr>
        <p:spPr>
          <a:xfrm>
            <a:off x="876300" y="2428875"/>
            <a:ext cx="2971800" cy="2667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F5F1E6"/>
                </a:solidFill>
                <a:latin typeface="Microsoft YaHei"/>
                <a:ea typeface="Microsoft YaHei"/>
              </a:rPr>
              <a:t>方言语音农技问答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7DF022C9-B895-4F39-B3C0-74B7F5102125}"/>
              </a:ext>
            </a:extLst>
          </p:cNvPr>
          <p:cNvSpPr txBox="1"/>
          <p:nvPr/>
        </p:nvSpPr>
        <p:spPr>
          <a:xfrm>
            <a:off x="876300" y="2695575"/>
            <a:ext cx="2971800" cy="2095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200">
                <a:solidFill>
                  <a:srgbClr val="D8DFD6"/>
                </a:solidFill>
                <a:latin typeface="Microsoft YaHei"/>
                <a:ea typeface="Microsoft YaHei"/>
              </a:rPr>
              <a:t>RAG + 引用，老人可用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1D1C9267-F2FB-4D59-A3A1-418015835F36}"/>
              </a:ext>
            </a:extLst>
          </p:cNvPr>
          <p:cNvSpPr txBox="1"/>
          <p:nvPr/>
        </p:nvSpPr>
        <p:spPr>
          <a:xfrm>
            <a:off x="876300" y="3238500"/>
            <a:ext cx="2971800" cy="2667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F5F1E6"/>
                </a:solidFill>
                <a:latin typeface="Microsoft YaHei"/>
                <a:ea typeface="Microsoft YaHei"/>
              </a:rPr>
              <a:t>病虫害拍照识别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ADA16589-9501-4309-AD0F-A77F672003BE}"/>
              </a:ext>
            </a:extLst>
          </p:cNvPr>
          <p:cNvSpPr txBox="1"/>
          <p:nvPr/>
        </p:nvSpPr>
        <p:spPr>
          <a:xfrm>
            <a:off x="876300" y="3505200"/>
            <a:ext cx="2971800" cy="2095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200">
                <a:solidFill>
                  <a:srgbClr val="D8DFD6"/>
                </a:solidFill>
                <a:latin typeface="Microsoft YaHei"/>
                <a:ea typeface="Microsoft YaHei"/>
              </a:rPr>
              <a:t>Top-3 召回 ≥85%，专家复核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924351FC-FD09-46A1-B39B-2803C1FB5E6A}"/>
              </a:ext>
            </a:extLst>
          </p:cNvPr>
          <p:cNvSpPr txBox="1"/>
          <p:nvPr/>
        </p:nvSpPr>
        <p:spPr>
          <a:xfrm>
            <a:off x="876300" y="4048125"/>
            <a:ext cx="2971800" cy="2667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F5F1E6"/>
                </a:solidFill>
                <a:latin typeface="Microsoft YaHei"/>
                <a:ea typeface="Microsoft YaHei"/>
              </a:rPr>
              <a:t>入库质检助手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3F2B546E-6A0E-41BB-8976-BC8971CF6AFC}"/>
              </a:ext>
            </a:extLst>
          </p:cNvPr>
          <p:cNvSpPr txBox="1"/>
          <p:nvPr/>
        </p:nvSpPr>
        <p:spPr>
          <a:xfrm>
            <a:off x="876300" y="4314825"/>
            <a:ext cx="2971800" cy="2095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200">
                <a:solidFill>
                  <a:srgbClr val="D8DFD6"/>
                </a:solidFill>
                <a:latin typeface="Microsoft YaHei"/>
                <a:ea typeface="Microsoft YaHei"/>
              </a:rPr>
              <a:t>拍照 + 标准知识库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B3FA4AA1-4899-4D47-9341-2AF4C72AACA5}"/>
              </a:ext>
            </a:extLst>
          </p:cNvPr>
          <p:cNvSpPr txBox="1"/>
          <p:nvPr/>
        </p:nvSpPr>
        <p:spPr>
          <a:xfrm>
            <a:off x="876300" y="4857750"/>
            <a:ext cx="2971800" cy="2667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F5F1E6"/>
                </a:solidFill>
                <a:latin typeface="Microsoft YaHei"/>
                <a:ea typeface="Microsoft YaHei"/>
              </a:rPr>
              <a:t>官网内容助手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BC3426D9-92A8-4609-B4B4-B85B35A6F624}"/>
              </a:ext>
            </a:extLst>
          </p:cNvPr>
          <p:cNvSpPr txBox="1"/>
          <p:nvPr/>
        </p:nvSpPr>
        <p:spPr>
          <a:xfrm>
            <a:off x="876300" y="5124450"/>
            <a:ext cx="2971800" cy="2095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200">
                <a:solidFill>
                  <a:srgbClr val="D8DFD6"/>
                </a:solidFill>
                <a:latin typeface="Microsoft YaHei"/>
                <a:ea typeface="Microsoft YaHei"/>
              </a:rPr>
              <a:t>故事 → 文案 → 草稿</a:t>
            </a:r>
          </a:p>
        </p:txBody>
      </p:sp>
      <p:sp>
        <p:nvSpPr>
          <p:cNvPr id="15" name="Shape 15">
            <a:extLst>
              <a:ext uri="{FF2B5EF4-FFF2-40B4-BE49-F238E27FC236}">
                <a16:creationId xmlns:a16="http://schemas.microsoft.com/office/drawing/2014/main" id="{63DD17B9-2993-4EAB-9EF4-FDC2E5597543}"/>
              </a:ext>
            </a:extLst>
          </p:cNvPr>
          <p:cNvSpPr/>
          <p:nvPr/>
        </p:nvSpPr>
        <p:spPr>
          <a:xfrm>
            <a:off x="4343400" y="1666875"/>
            <a:ext cx="3505200" cy="409575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CCB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363DAB63-0FB3-49E7-9BC8-8B27BB8B5E9C}"/>
              </a:ext>
            </a:extLst>
          </p:cNvPr>
          <p:cNvSpPr txBox="1"/>
          <p:nvPr/>
        </p:nvSpPr>
        <p:spPr>
          <a:xfrm>
            <a:off x="4610100" y="1933575"/>
            <a:ext cx="2971800" cy="3238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2F5D46"/>
                </a:solidFill>
                <a:latin typeface="Microsoft YaHei"/>
                <a:ea typeface="Microsoft YaHei"/>
              </a:rPr>
              <a:t>P1 · 6—18 个月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0EFF2424-7437-4E0C-9094-DAD1C181B55D}"/>
              </a:ext>
            </a:extLst>
          </p:cNvPr>
          <p:cNvSpPr txBox="1"/>
          <p:nvPr/>
        </p:nvSpPr>
        <p:spPr>
          <a:xfrm>
            <a:off x="4610100" y="2428875"/>
            <a:ext cx="2971800" cy="2667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26302A"/>
                </a:solidFill>
                <a:latin typeface="Microsoft YaHei"/>
                <a:ea typeface="Microsoft YaHei"/>
              </a:rPr>
              <a:t>溯源链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4A3D0E98-7D0C-42DE-B75C-DC0F92AC025B}"/>
              </a:ext>
            </a:extLst>
          </p:cNvPr>
          <p:cNvSpPr txBox="1"/>
          <p:nvPr/>
        </p:nvSpPr>
        <p:spPr>
          <a:xfrm>
            <a:off x="4610100" y="2695575"/>
            <a:ext cx="2971800" cy="2095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200">
                <a:solidFill>
                  <a:srgbClr val="6B746C"/>
                </a:solidFill>
                <a:latin typeface="Microsoft YaHei"/>
                <a:ea typeface="Microsoft YaHei"/>
              </a:rPr>
              <a:t>地块、批次、检测可查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9D858565-9E01-4EE8-8412-4748641D7823}"/>
              </a:ext>
            </a:extLst>
          </p:cNvPr>
          <p:cNvSpPr txBox="1"/>
          <p:nvPr/>
        </p:nvSpPr>
        <p:spPr>
          <a:xfrm>
            <a:off x="4610100" y="3238500"/>
            <a:ext cx="2971800" cy="2667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26302A"/>
                </a:solidFill>
                <a:latin typeface="Microsoft YaHei"/>
                <a:ea typeface="Microsoft YaHei"/>
              </a:rPr>
              <a:t>预警哨兵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9EEEDFD8-4C67-4929-985A-5CD477B758C0}"/>
              </a:ext>
            </a:extLst>
          </p:cNvPr>
          <p:cNvSpPr txBox="1"/>
          <p:nvPr/>
        </p:nvSpPr>
        <p:spPr>
          <a:xfrm>
            <a:off x="4610100" y="3505200"/>
            <a:ext cx="2971800" cy="2095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200">
                <a:solidFill>
                  <a:srgbClr val="6B746C"/>
                </a:solidFill>
                <a:latin typeface="Microsoft YaHei"/>
                <a:ea typeface="Microsoft YaHei"/>
              </a:rPr>
              <a:t>四类预警与处置闭环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99E5A21C-93EC-4E4A-85FC-CA9E2C7A1D94}"/>
              </a:ext>
            </a:extLst>
          </p:cNvPr>
          <p:cNvSpPr txBox="1"/>
          <p:nvPr/>
        </p:nvSpPr>
        <p:spPr>
          <a:xfrm>
            <a:off x="4610100" y="4048125"/>
            <a:ext cx="2971800" cy="2667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26302A"/>
                </a:solidFill>
                <a:latin typeface="Microsoft YaHei"/>
                <a:ea typeface="Microsoft YaHei"/>
              </a:rPr>
              <a:t>订单与服务调度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F65DEEB8-E793-4D42-8001-5674E7CCEED8}"/>
              </a:ext>
            </a:extLst>
          </p:cNvPr>
          <p:cNvSpPr txBox="1"/>
          <p:nvPr/>
        </p:nvSpPr>
        <p:spPr>
          <a:xfrm>
            <a:off x="4610100" y="4314825"/>
            <a:ext cx="2971800" cy="2095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200">
                <a:solidFill>
                  <a:srgbClr val="6B746C"/>
                </a:solidFill>
                <a:latin typeface="Microsoft YaHei"/>
                <a:ea typeface="Microsoft YaHei"/>
              </a:rPr>
              <a:t>预约、派单、跟踪</a:t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BB7FE28B-8564-46A6-AB3F-7A4022B23BD3}"/>
              </a:ext>
            </a:extLst>
          </p:cNvPr>
          <p:cNvSpPr txBox="1"/>
          <p:nvPr/>
        </p:nvSpPr>
        <p:spPr>
          <a:xfrm>
            <a:off x="4610100" y="4857750"/>
            <a:ext cx="2971800" cy="2667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26302A"/>
                </a:solidFill>
                <a:latin typeface="Microsoft YaHei"/>
                <a:ea typeface="Microsoft YaHei"/>
              </a:rPr>
              <a:t>审计助手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163CE31A-DD6F-4D91-966C-BCCF90A465E6}"/>
              </a:ext>
            </a:extLst>
          </p:cNvPr>
          <p:cNvSpPr txBox="1"/>
          <p:nvPr/>
        </p:nvSpPr>
        <p:spPr>
          <a:xfrm>
            <a:off x="4610100" y="5124450"/>
            <a:ext cx="2971800" cy="2095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200">
                <a:solidFill>
                  <a:srgbClr val="6B746C"/>
                </a:solidFill>
                <a:latin typeface="Microsoft YaHei"/>
                <a:ea typeface="Microsoft YaHei"/>
              </a:rPr>
              <a:t>异常检测、抽样、报告</a:t>
            </a:r>
          </a:p>
        </p:txBody>
      </p:sp>
      <p:sp>
        <p:nvSpPr>
          <p:cNvPr id="25" name="Shape 25">
            <a:extLst>
              <a:ext uri="{FF2B5EF4-FFF2-40B4-BE49-F238E27FC236}">
                <a16:creationId xmlns:a16="http://schemas.microsoft.com/office/drawing/2014/main" id="{779EB3FF-1418-4449-BDB4-83D2A1562CBA}"/>
              </a:ext>
            </a:extLst>
          </p:cNvPr>
          <p:cNvSpPr/>
          <p:nvPr/>
        </p:nvSpPr>
        <p:spPr>
          <a:xfrm>
            <a:off x="8077200" y="1666875"/>
            <a:ext cx="3505200" cy="409575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CCB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6" name="TextBox 26">
            <a:extLst>
              <a:ext uri="{FF2B5EF4-FFF2-40B4-BE49-F238E27FC236}">
                <a16:creationId xmlns:a16="http://schemas.microsoft.com/office/drawing/2014/main" id="{E4677917-F1B8-4EB8-9E5E-150862246AA2}"/>
              </a:ext>
            </a:extLst>
          </p:cNvPr>
          <p:cNvSpPr txBox="1"/>
          <p:nvPr/>
        </p:nvSpPr>
        <p:spPr>
          <a:xfrm>
            <a:off x="8343900" y="1933575"/>
            <a:ext cx="2971800" cy="3238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B8860B"/>
                </a:solidFill>
                <a:latin typeface="Microsoft YaHei"/>
                <a:ea typeface="Microsoft YaHei"/>
              </a:rPr>
              <a:t>P2 · 18—36 个月</a:t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C9EECD64-1DCD-4017-887C-449D93052988}"/>
              </a:ext>
            </a:extLst>
          </p:cNvPr>
          <p:cNvSpPr txBox="1"/>
          <p:nvPr/>
        </p:nvSpPr>
        <p:spPr>
          <a:xfrm>
            <a:off x="8343900" y="2428875"/>
            <a:ext cx="2971800" cy="2667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26302A"/>
                </a:solidFill>
                <a:latin typeface="Microsoft YaHei"/>
                <a:ea typeface="Microsoft YaHei"/>
              </a:rPr>
              <a:t>交易撮合与定价建议</a:t>
            </a:r>
          </a:p>
        </p:txBody>
      </p:sp>
      <p:sp>
        <p:nvSpPr>
          <p:cNvPr id="28" name="TextBox 28">
            <a:extLst>
              <a:ext uri="{FF2B5EF4-FFF2-40B4-BE49-F238E27FC236}">
                <a16:creationId xmlns:a16="http://schemas.microsoft.com/office/drawing/2014/main" id="{5401AEE7-4EA4-49D5-9ADE-5BEBD88B9FEF}"/>
              </a:ext>
            </a:extLst>
          </p:cNvPr>
          <p:cNvSpPr txBox="1"/>
          <p:nvPr/>
        </p:nvSpPr>
        <p:spPr>
          <a:xfrm>
            <a:off x="8343900" y="2695575"/>
            <a:ext cx="2971800" cy="2095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200">
                <a:solidFill>
                  <a:srgbClr val="6B746C"/>
                </a:solidFill>
                <a:latin typeface="Microsoft YaHei"/>
                <a:ea typeface="Microsoft YaHei"/>
              </a:rPr>
              <a:t>对接县域市场</a:t>
            </a:r>
          </a:p>
        </p:txBody>
      </p:sp>
      <p:sp>
        <p:nvSpPr>
          <p:cNvPr id="29" name="TextBox 29">
            <a:extLst>
              <a:ext uri="{FF2B5EF4-FFF2-40B4-BE49-F238E27FC236}">
                <a16:creationId xmlns:a16="http://schemas.microsoft.com/office/drawing/2014/main" id="{767B121C-669C-410E-A425-C995F4B3E012}"/>
              </a:ext>
            </a:extLst>
          </p:cNvPr>
          <p:cNvSpPr txBox="1"/>
          <p:nvPr/>
        </p:nvSpPr>
        <p:spPr>
          <a:xfrm>
            <a:off x="8343900" y="3238500"/>
            <a:ext cx="2971800" cy="2667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26302A"/>
                </a:solidFill>
                <a:latin typeface="Microsoft YaHei"/>
                <a:ea typeface="Microsoft YaHei"/>
              </a:rPr>
              <a:t>文化资源数字馆</a:t>
            </a:r>
          </a:p>
        </p:txBody>
      </p:sp>
      <p:sp>
        <p:nvSpPr>
          <p:cNvPr id="30" name="TextBox 30">
            <a:extLst>
              <a:ext uri="{FF2B5EF4-FFF2-40B4-BE49-F238E27FC236}">
                <a16:creationId xmlns:a16="http://schemas.microsoft.com/office/drawing/2014/main" id="{1F66F23D-088E-4950-ADA2-17AD0D265D31}"/>
              </a:ext>
            </a:extLst>
          </p:cNvPr>
          <p:cNvSpPr txBox="1"/>
          <p:nvPr/>
        </p:nvSpPr>
        <p:spPr>
          <a:xfrm>
            <a:off x="8343900" y="3505200"/>
            <a:ext cx="2971800" cy="2095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200">
                <a:solidFill>
                  <a:srgbClr val="6B746C"/>
                </a:solidFill>
                <a:latin typeface="Microsoft YaHei"/>
                <a:ea typeface="Microsoft YaHei"/>
              </a:rPr>
              <a:t>村史、非遗、语音导览</a:t>
            </a:r>
          </a:p>
        </p:txBody>
      </p:sp>
      <p:sp>
        <p:nvSpPr>
          <p:cNvPr id="31" name="TextBox 31">
            <a:extLst>
              <a:ext uri="{FF2B5EF4-FFF2-40B4-BE49-F238E27FC236}">
                <a16:creationId xmlns:a16="http://schemas.microsoft.com/office/drawing/2014/main" id="{FDAE83A1-BC9E-4167-9493-20E22DAF2410}"/>
              </a:ext>
            </a:extLst>
          </p:cNvPr>
          <p:cNvSpPr txBox="1"/>
          <p:nvPr/>
        </p:nvSpPr>
        <p:spPr>
          <a:xfrm>
            <a:off x="8343900" y="4048125"/>
            <a:ext cx="2971800" cy="2667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26302A"/>
                </a:solidFill>
                <a:latin typeface="Microsoft YaHei"/>
                <a:ea typeface="Microsoft YaHei"/>
              </a:rPr>
              <a:t>跨村复制</a:t>
            </a:r>
          </a:p>
        </p:txBody>
      </p:sp>
      <p:sp>
        <p:nvSpPr>
          <p:cNvPr id="32" name="TextBox 32">
            <a:extLst>
              <a:ext uri="{FF2B5EF4-FFF2-40B4-BE49-F238E27FC236}">
                <a16:creationId xmlns:a16="http://schemas.microsoft.com/office/drawing/2014/main" id="{5A03A855-B7E8-4482-9138-14BEC7F60E32}"/>
              </a:ext>
            </a:extLst>
          </p:cNvPr>
          <p:cNvSpPr txBox="1"/>
          <p:nvPr/>
        </p:nvSpPr>
        <p:spPr>
          <a:xfrm>
            <a:off x="8343900" y="4314825"/>
            <a:ext cx="2971800" cy="2095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200">
                <a:solidFill>
                  <a:srgbClr val="6B746C"/>
                </a:solidFill>
                <a:latin typeface="Microsoft YaHei"/>
                <a:ea typeface="Microsoft YaHei"/>
              </a:rPr>
              <a:t>多租户与标准化输出</a:t>
            </a:r>
          </a:p>
        </p:txBody>
      </p:sp>
      <p:sp>
        <p:nvSpPr>
          <p:cNvPr id="33" name="TextBox 33">
            <a:extLst>
              <a:ext uri="{FF2B5EF4-FFF2-40B4-BE49-F238E27FC236}">
                <a16:creationId xmlns:a16="http://schemas.microsoft.com/office/drawing/2014/main" id="{C38A9B4B-C761-4E13-B2B2-3A99E1D36D16}"/>
              </a:ext>
            </a:extLst>
          </p:cNvPr>
          <p:cNvSpPr txBox="1"/>
          <p:nvPr/>
        </p:nvSpPr>
        <p:spPr>
          <a:xfrm>
            <a:off x="609600" y="6076950"/>
            <a:ext cx="10972800" cy="2476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300">
                <a:solidFill>
                  <a:srgbClr val="6B746C"/>
                </a:solidFill>
                <a:latin typeface="Microsoft YaHei"/>
                <a:ea typeface="Microsoft YaHei"/>
              </a:rPr>
              <a:t>评估口径：业务价值 × 技术可行性 × 数据就绪度 × 风险；P0 必须可演示、可验收。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4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F3D1EAF6-E50D-4C59-8EFC-E2744CA5CB0B}"/>
              </a:ext>
            </a:extLst>
          </p:cNvPr>
          <p:cNvSpPr txBox="1"/>
          <p:nvPr/>
        </p:nvSpPr>
        <p:spPr>
          <a:xfrm>
            <a:off x="609600" y="495300"/>
            <a:ext cx="3810000" cy="2667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2F5D46"/>
                </a:solidFill>
                <a:latin typeface="Microsoft YaHei"/>
                <a:ea typeface="Microsoft YaHei"/>
              </a:rPr>
              <a:t>路线图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2D54730E-4C05-410B-9865-EA7EF941EC91}"/>
              </a:ext>
            </a:extLst>
          </p:cNvPr>
          <p:cNvSpPr txBox="1"/>
          <p:nvPr/>
        </p:nvSpPr>
        <p:spPr>
          <a:xfrm>
            <a:off x="609600" y="800100"/>
            <a:ext cx="11049000" cy="6858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3600" b="1">
                <a:solidFill>
                  <a:srgbClr val="26302A"/>
                </a:solidFill>
                <a:latin typeface="Microsoft YaHei"/>
                <a:ea typeface="Microsoft YaHei"/>
              </a:rPr>
              <a:t>三个阶段：试点、流程化、自治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D3826CD7-53D5-4012-BCC4-093CA3C6DB07}"/>
              </a:ext>
            </a:extLst>
          </p:cNvPr>
          <p:cNvSpPr/>
          <p:nvPr/>
        </p:nvSpPr>
        <p:spPr>
          <a:xfrm>
            <a:off x="914400" y="2952750"/>
            <a:ext cx="10363200" cy="19050"/>
          </a:xfrm>
          <a:prstGeom prst="rect">
            <a:avLst/>
          </a:prstGeom>
          <a:solidFill>
            <a:srgbClr val="D8CBB0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DBC1307A-F441-42A3-B560-37B5C4FA93FD}"/>
              </a:ext>
            </a:extLst>
          </p:cNvPr>
          <p:cNvSpPr/>
          <p:nvPr/>
        </p:nvSpPr>
        <p:spPr>
          <a:xfrm>
            <a:off x="2124075" y="2847975"/>
            <a:ext cx="209550" cy="209550"/>
          </a:xfrm>
          <a:prstGeom prst="ellipse">
            <a:avLst/>
          </a:prstGeom>
          <a:solidFill>
            <a:srgbClr val="2F5D46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3B1621D2-3397-4360-999B-4FBBD328472E}"/>
              </a:ext>
            </a:extLst>
          </p:cNvPr>
          <p:cNvSpPr/>
          <p:nvPr/>
        </p:nvSpPr>
        <p:spPr>
          <a:xfrm>
            <a:off x="5934075" y="2847975"/>
            <a:ext cx="209550" cy="209550"/>
          </a:xfrm>
          <a:prstGeom prst="ellipse">
            <a:avLst/>
          </a:prstGeom>
          <a:solidFill>
            <a:srgbClr val="2F5D46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C98538C9-4882-486F-83C3-C7BE1D23B339}"/>
              </a:ext>
            </a:extLst>
          </p:cNvPr>
          <p:cNvSpPr/>
          <p:nvPr/>
        </p:nvSpPr>
        <p:spPr>
          <a:xfrm>
            <a:off x="9744075" y="2847975"/>
            <a:ext cx="209550" cy="209550"/>
          </a:xfrm>
          <a:prstGeom prst="ellipse">
            <a:avLst/>
          </a:prstGeom>
          <a:solidFill>
            <a:srgbClr val="B8860B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128438A5-7295-4EF5-A746-F7F1ACCAEE2F}"/>
              </a:ext>
            </a:extLst>
          </p:cNvPr>
          <p:cNvSpPr txBox="1"/>
          <p:nvPr/>
        </p:nvSpPr>
        <p:spPr>
          <a:xfrm>
            <a:off x="1143000" y="1981200"/>
            <a:ext cx="2857500" cy="402336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26302A"/>
                </a:solidFill>
                <a:latin typeface="Microsoft YaHei"/>
                <a:ea typeface="Microsoft YaHei"/>
              </a:rPr>
              <a:t>P1 打底座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4AD5EAA8-9FE7-4200-8DD2-ED2F66C7E5EE}"/>
              </a:ext>
            </a:extLst>
          </p:cNvPr>
          <p:cNvSpPr txBox="1"/>
          <p:nvPr/>
        </p:nvSpPr>
        <p:spPr>
          <a:xfrm>
            <a:off x="1143000" y="2362200"/>
            <a:ext cx="2857500" cy="2476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2F5D46"/>
                </a:solidFill>
                <a:latin typeface="Microsoft YaHei"/>
                <a:ea typeface="Microsoft YaHei"/>
              </a:rPr>
              <a:t>0—6 个月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059B8425-BB7B-4D0D-8EB2-AF813C68B440}"/>
              </a:ext>
            </a:extLst>
          </p:cNvPr>
          <p:cNvSpPr txBox="1"/>
          <p:nvPr/>
        </p:nvSpPr>
        <p:spPr>
          <a:xfrm>
            <a:off x="4953000" y="1981200"/>
            <a:ext cx="2857500" cy="402336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26302A"/>
                </a:solidFill>
                <a:latin typeface="Microsoft YaHei"/>
                <a:ea typeface="Microsoft YaHei"/>
              </a:rPr>
              <a:t>P2 流程化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879B7062-8E60-4FE7-8549-1661677F42D7}"/>
              </a:ext>
            </a:extLst>
          </p:cNvPr>
          <p:cNvSpPr txBox="1"/>
          <p:nvPr/>
        </p:nvSpPr>
        <p:spPr>
          <a:xfrm>
            <a:off x="4953000" y="2362200"/>
            <a:ext cx="2857500" cy="2476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2F5D46"/>
                </a:solidFill>
                <a:latin typeface="Microsoft YaHei"/>
                <a:ea typeface="Microsoft YaHei"/>
              </a:rPr>
              <a:t>6—18 个月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CE97B670-DFA5-43A8-AAD7-CE1E5FA9F3AE}"/>
              </a:ext>
            </a:extLst>
          </p:cNvPr>
          <p:cNvSpPr txBox="1"/>
          <p:nvPr/>
        </p:nvSpPr>
        <p:spPr>
          <a:xfrm>
            <a:off x="8763000" y="1981200"/>
            <a:ext cx="2857500" cy="402336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26302A"/>
                </a:solidFill>
                <a:latin typeface="Microsoft YaHei"/>
                <a:ea typeface="Microsoft YaHei"/>
              </a:rPr>
              <a:t>P3 自治化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8C833D84-B1D1-40D9-A91F-37C7E56BDC10}"/>
              </a:ext>
            </a:extLst>
          </p:cNvPr>
          <p:cNvSpPr txBox="1"/>
          <p:nvPr/>
        </p:nvSpPr>
        <p:spPr>
          <a:xfrm>
            <a:off x="8763000" y="2362200"/>
            <a:ext cx="2857500" cy="2476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B8860B"/>
                </a:solidFill>
                <a:latin typeface="Microsoft YaHei"/>
                <a:ea typeface="Microsoft YaHei"/>
              </a:rPr>
              <a:t>18—36 个月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1B68C574-FADC-41E7-BDBF-1F7AF6A036FA}"/>
              </a:ext>
            </a:extLst>
          </p:cNvPr>
          <p:cNvSpPr txBox="1"/>
          <p:nvPr/>
        </p:nvSpPr>
        <p:spPr>
          <a:xfrm>
            <a:off x="1143000" y="3333750"/>
            <a:ext cx="2857500" cy="11430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>
                <a:solidFill>
                  <a:srgbClr val="26302A"/>
                </a:solidFill>
                <a:latin typeface="Microsoft YaHei"/>
                <a:ea typeface="Microsoft YaHei"/>
              </a:rPr>
              <a:t>· 数据建模与知识库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>
                <a:solidFill>
                  <a:srgbClr val="26302A"/>
                </a:solidFill>
                <a:latin typeface="Microsoft YaHei"/>
                <a:ea typeface="Microsoft YaHei"/>
              </a:rPr>
              <a:t>· 契约与编排骨架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26302A"/>
                </a:solidFill>
                <a:latin typeface="Microsoft YaHei"/>
                <a:ea typeface="Microsoft YaHei"/>
              </a:rPr>
              <a:t>· 语音问答 + 病虫害 MVP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80AF2F2C-AB65-470F-BD3F-CF4BE6E32200}"/>
              </a:ext>
            </a:extLst>
          </p:cNvPr>
          <p:cNvSpPr txBox="1"/>
          <p:nvPr/>
        </p:nvSpPr>
        <p:spPr>
          <a:xfrm>
            <a:off x="4953000" y="3333750"/>
            <a:ext cx="2857500" cy="11430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>
                <a:solidFill>
                  <a:srgbClr val="26302A"/>
                </a:solidFill>
                <a:latin typeface="Microsoft YaHei"/>
                <a:ea typeface="Microsoft YaHei"/>
              </a:rPr>
              <a:t>· 事件总线与溯源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>
                <a:solidFill>
                  <a:srgbClr val="26302A"/>
                </a:solidFill>
                <a:latin typeface="Microsoft YaHei"/>
                <a:ea typeface="Microsoft YaHei"/>
              </a:rPr>
              <a:t>· 五角色 Agent 嵌入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26302A"/>
                </a:solidFill>
                <a:latin typeface="Microsoft YaHei"/>
                <a:ea typeface="Microsoft YaHei"/>
              </a:rPr>
              <a:t>· 预警哨兵与审计助手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157C5626-92D2-44D5-8E08-2AC7B5E847EC}"/>
              </a:ext>
            </a:extLst>
          </p:cNvPr>
          <p:cNvSpPr txBox="1"/>
          <p:nvPr/>
        </p:nvSpPr>
        <p:spPr>
          <a:xfrm>
            <a:off x="8763000" y="3333750"/>
            <a:ext cx="2857500" cy="11430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>
                <a:solidFill>
                  <a:srgbClr val="26302A"/>
                </a:solidFill>
                <a:latin typeface="Microsoft YaHei"/>
                <a:ea typeface="Microsoft YaHei"/>
              </a:rPr>
              <a:t>· 多 Agent 协同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>
                <a:solidFill>
                  <a:srgbClr val="26302A"/>
                </a:solidFill>
                <a:latin typeface="Microsoft YaHei"/>
                <a:ea typeface="Microsoft YaHei"/>
              </a:rPr>
              <a:t>· 交易撮合与定价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26302A"/>
                </a:solidFill>
                <a:latin typeface="Microsoft YaHei"/>
                <a:ea typeface="Microsoft YaHei"/>
              </a:rPr>
              <a:t>· 文化数字馆与跨村复制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FB143B6C-54B1-4866-B480-4CD90943C0E3}"/>
              </a:ext>
            </a:extLst>
          </p:cNvPr>
          <p:cNvSpPr txBox="1"/>
          <p:nvPr/>
        </p:nvSpPr>
        <p:spPr>
          <a:xfrm>
            <a:off x="609600" y="5753100"/>
            <a:ext cx="10972800" cy="2857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2F5D46"/>
                </a:solidFill>
                <a:latin typeface="Microsoft YaHei"/>
                <a:ea typeface="Microsoft YaHei"/>
              </a:rPr>
              <a:t>放行规则：阶段指标达标才进入下一阶段；不达标先补数据与评测，不加新功能。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4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FA529E39-8B72-4208-BE52-C7E1F898F10A}"/>
              </a:ext>
            </a:extLst>
          </p:cNvPr>
          <p:cNvSpPr txBox="1"/>
          <p:nvPr/>
        </p:nvSpPr>
        <p:spPr>
          <a:xfrm>
            <a:off x="609600" y="495300"/>
            <a:ext cx="3810000" cy="2667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2F5D46"/>
                </a:solidFill>
                <a:latin typeface="Microsoft YaHei"/>
                <a:ea typeface="Microsoft YaHei"/>
              </a:rPr>
              <a:t>启动计划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ADA8127F-3E1C-45D2-B475-63F5E27B1F65}"/>
              </a:ext>
            </a:extLst>
          </p:cNvPr>
          <p:cNvSpPr txBox="1"/>
          <p:nvPr/>
        </p:nvSpPr>
        <p:spPr>
          <a:xfrm>
            <a:off x="609600" y="800100"/>
            <a:ext cx="11049000" cy="6858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3600" b="1">
                <a:solidFill>
                  <a:srgbClr val="26302A"/>
                </a:solidFill>
                <a:latin typeface="Microsoft YaHei"/>
                <a:ea typeface="Microsoft YaHei"/>
              </a:rPr>
              <a:t>90 天：把蓝图变成可验收的动作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A4EA0C68-E261-4A5B-8AD6-46B471044660}"/>
              </a:ext>
            </a:extLst>
          </p:cNvPr>
          <p:cNvSpPr/>
          <p:nvPr/>
        </p:nvSpPr>
        <p:spPr>
          <a:xfrm>
            <a:off x="609600" y="1666875"/>
            <a:ext cx="3505200" cy="40005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CCB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682E4FBF-AD34-44DC-BA7A-A26AA18FED44}"/>
              </a:ext>
            </a:extLst>
          </p:cNvPr>
          <p:cNvSpPr txBox="1"/>
          <p:nvPr/>
        </p:nvSpPr>
        <p:spPr>
          <a:xfrm>
            <a:off x="876300" y="1933575"/>
            <a:ext cx="2971800" cy="67056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B8860B"/>
                </a:solidFill>
                <a:latin typeface="Georgia"/>
                <a:ea typeface="Georgia"/>
              </a:rPr>
              <a:t>01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7DDF259B-1976-491F-A627-BF9D13F21A62}"/>
              </a:ext>
            </a:extLst>
          </p:cNvPr>
          <p:cNvSpPr txBox="1"/>
          <p:nvPr/>
        </p:nvSpPr>
        <p:spPr>
          <a:xfrm>
            <a:off x="876300" y="2619375"/>
            <a:ext cx="2971800" cy="3048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26302A"/>
                </a:solidFill>
                <a:latin typeface="Microsoft YaHei"/>
                <a:ea typeface="Microsoft YaHei"/>
              </a:rPr>
              <a:t>数据与知识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6808CBB8-AD67-404B-BEDB-F6A039A7EB28}"/>
              </a:ext>
            </a:extLst>
          </p:cNvPr>
          <p:cNvSpPr txBox="1"/>
          <p:nvPr/>
        </p:nvSpPr>
        <p:spPr>
          <a:xfrm>
            <a:off x="876300" y="2943225"/>
            <a:ext cx="2971800" cy="2286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2F5D46"/>
                </a:solidFill>
                <a:latin typeface="Microsoft YaHei"/>
                <a:ea typeface="Microsoft YaHei"/>
              </a:rPr>
              <a:t>周 1—6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757B8B4E-F061-43C3-8706-2CBE77C34EE7}"/>
              </a:ext>
            </a:extLst>
          </p:cNvPr>
          <p:cNvSpPr txBox="1"/>
          <p:nvPr/>
        </p:nvSpPr>
        <p:spPr>
          <a:xfrm>
            <a:off x="876300" y="3324225"/>
            <a:ext cx="2971800" cy="17145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>
                <a:solidFill>
                  <a:srgbClr val="26302A"/>
                </a:solidFill>
                <a:latin typeface="Microsoft YaHei"/>
                <a:ea typeface="Microsoft YaHei"/>
              </a:rPr>
              <a:t>· 数据字典 v1：地块/作物/批次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>
                <a:solidFill>
                  <a:srgbClr val="26302A"/>
                </a:solidFill>
                <a:latin typeface="Microsoft YaHei"/>
                <a:ea typeface="Microsoft YaHei"/>
              </a:rPr>
              <a:t>· 农户自助提交 MVP（地块/产品）</a:t>
            </a:r>
          </a:p>
          <a:p>
            <a:pPr algn="l">
              <a:lnSpc>
                <a:spcPct val="120000"/>
              </a:lnSpc>
            </a:pPr>
            <a:r>
              <a:rPr sz="1400">
                <a:solidFill>
                  <a:srgbClr val="26302A"/>
                </a:solidFill>
                <a:latin typeface="Microsoft YaHei"/>
                <a:ea typeface="Microsoft YaHei"/>
              </a:rPr>
              <a:t>· 知识条目 200+ 首批入库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D6F2F0F8-9BA0-4572-A470-776F1FA6E3F7}"/>
              </a:ext>
            </a:extLst>
          </p:cNvPr>
          <p:cNvSpPr/>
          <p:nvPr/>
        </p:nvSpPr>
        <p:spPr>
          <a:xfrm>
            <a:off x="4343400" y="1666875"/>
            <a:ext cx="3505200" cy="40005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CCB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BB45FE25-0DC8-4642-8165-7E20CF56C7F9}"/>
              </a:ext>
            </a:extLst>
          </p:cNvPr>
          <p:cNvSpPr txBox="1"/>
          <p:nvPr/>
        </p:nvSpPr>
        <p:spPr>
          <a:xfrm>
            <a:off x="4610100" y="1933575"/>
            <a:ext cx="2971800" cy="67056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B8860B"/>
                </a:solidFill>
                <a:latin typeface="Georgia"/>
                <a:ea typeface="Georgia"/>
              </a:rPr>
              <a:t>02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02D26908-3A16-43F0-BB44-9954C2B9BF1E}"/>
              </a:ext>
            </a:extLst>
          </p:cNvPr>
          <p:cNvSpPr txBox="1"/>
          <p:nvPr/>
        </p:nvSpPr>
        <p:spPr>
          <a:xfrm>
            <a:off x="4610100" y="2619375"/>
            <a:ext cx="2971800" cy="3048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26302A"/>
                </a:solidFill>
                <a:latin typeface="Microsoft YaHei"/>
                <a:ea typeface="Microsoft YaHei"/>
              </a:rPr>
              <a:t>技术验证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6DEFA6D1-B579-4662-925E-B97D1F5B3681}"/>
              </a:ext>
            </a:extLst>
          </p:cNvPr>
          <p:cNvSpPr txBox="1"/>
          <p:nvPr/>
        </p:nvSpPr>
        <p:spPr>
          <a:xfrm>
            <a:off x="4610100" y="2943225"/>
            <a:ext cx="2971800" cy="2286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2F5D46"/>
                </a:solidFill>
                <a:latin typeface="Microsoft YaHei"/>
                <a:ea typeface="Microsoft YaHei"/>
              </a:rPr>
              <a:t>周 3—8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2F0AD306-CEE9-469A-91B8-2E1BADBC26DA}"/>
              </a:ext>
            </a:extLst>
          </p:cNvPr>
          <p:cNvSpPr txBox="1"/>
          <p:nvPr/>
        </p:nvSpPr>
        <p:spPr>
          <a:xfrm>
            <a:off x="4610100" y="3324225"/>
            <a:ext cx="2971800" cy="17145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>
                <a:solidFill>
                  <a:srgbClr val="26302A"/>
                </a:solidFill>
                <a:latin typeface="Microsoft YaHei"/>
                <a:ea typeface="Microsoft YaHei"/>
              </a:rPr>
              <a:t>· pgvector RAG 链路 PoC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>
                <a:solidFill>
                  <a:srgbClr val="26302A"/>
                </a:solidFill>
                <a:latin typeface="Microsoft YaHei"/>
                <a:ea typeface="Microsoft YaHei"/>
              </a:rPr>
              <a:t>· 方言语音 → 问答 → 语音回答</a:t>
            </a:r>
          </a:p>
          <a:p>
            <a:pPr algn="l">
              <a:lnSpc>
                <a:spcPct val="120000"/>
              </a:lnSpc>
            </a:pPr>
            <a:r>
              <a:rPr sz="1400">
                <a:solidFill>
                  <a:srgbClr val="26302A"/>
                </a:solidFill>
                <a:latin typeface="Microsoft YaHei"/>
                <a:ea typeface="Microsoft YaHei"/>
              </a:rPr>
              <a:t>· 工作台 Copilot 侧栏原型</a:t>
            </a:r>
          </a:p>
        </p:txBody>
      </p:sp>
      <p:sp>
        <p:nvSpPr>
          <p:cNvPr id="15" name="Shape 15">
            <a:extLst>
              <a:ext uri="{FF2B5EF4-FFF2-40B4-BE49-F238E27FC236}">
                <a16:creationId xmlns:a16="http://schemas.microsoft.com/office/drawing/2014/main" id="{400BC88D-65CC-41C7-B3D6-276ECB11691A}"/>
              </a:ext>
            </a:extLst>
          </p:cNvPr>
          <p:cNvSpPr/>
          <p:nvPr/>
        </p:nvSpPr>
        <p:spPr>
          <a:xfrm>
            <a:off x="8077200" y="1666875"/>
            <a:ext cx="3505200" cy="40005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CCB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4E74F17D-72FD-4011-9C37-5692C33B93C6}"/>
              </a:ext>
            </a:extLst>
          </p:cNvPr>
          <p:cNvSpPr txBox="1"/>
          <p:nvPr/>
        </p:nvSpPr>
        <p:spPr>
          <a:xfrm>
            <a:off x="8343900" y="1933575"/>
            <a:ext cx="2971800" cy="67056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B8860B"/>
                </a:solidFill>
                <a:latin typeface="Georgia"/>
                <a:ea typeface="Georgia"/>
              </a:rPr>
              <a:t>03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5AEDBB03-C9DF-4145-B16A-962BBB8C99EB}"/>
              </a:ext>
            </a:extLst>
          </p:cNvPr>
          <p:cNvSpPr txBox="1"/>
          <p:nvPr/>
        </p:nvSpPr>
        <p:spPr>
          <a:xfrm>
            <a:off x="8343900" y="2619375"/>
            <a:ext cx="2971800" cy="3048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26302A"/>
                </a:solidFill>
                <a:latin typeface="Microsoft YaHei"/>
                <a:ea typeface="Microsoft YaHei"/>
              </a:rPr>
              <a:t>场景与评审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CAABFBC6-DBAE-40ED-A92D-B5F00ECCEB72}"/>
              </a:ext>
            </a:extLst>
          </p:cNvPr>
          <p:cNvSpPr txBox="1"/>
          <p:nvPr/>
        </p:nvSpPr>
        <p:spPr>
          <a:xfrm>
            <a:off x="8343900" y="2943225"/>
            <a:ext cx="2971800" cy="2286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2F5D46"/>
                </a:solidFill>
                <a:latin typeface="Microsoft YaHei"/>
                <a:ea typeface="Microsoft YaHei"/>
              </a:rPr>
              <a:t>周 5—12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D4DCAAFF-2D1D-409B-A205-0FD0EA34560B}"/>
              </a:ext>
            </a:extLst>
          </p:cNvPr>
          <p:cNvSpPr txBox="1"/>
          <p:nvPr/>
        </p:nvSpPr>
        <p:spPr>
          <a:xfrm>
            <a:off x="8343900" y="3324225"/>
            <a:ext cx="2971800" cy="17145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>
                <a:solidFill>
                  <a:srgbClr val="26302A"/>
                </a:solidFill>
                <a:latin typeface="Microsoft YaHei"/>
                <a:ea typeface="Microsoft YaHei"/>
              </a:rPr>
              <a:t>· 病虫害照片 500—1000 张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>
                <a:solidFill>
                  <a:srgbClr val="26302A"/>
                </a:solidFill>
                <a:latin typeface="Microsoft YaHei"/>
                <a:ea typeface="Microsoft YaHei"/>
              </a:rPr>
              <a:t>· 评测集 v0.1 与标注手册</a:t>
            </a:r>
          </a:p>
          <a:p>
            <a:pPr algn="l">
              <a:lnSpc>
                <a:spcPct val="120000"/>
              </a:lnSpc>
            </a:pPr>
            <a:r>
              <a:rPr sz="1400">
                <a:solidFill>
                  <a:srgbClr val="26302A"/>
                </a:solidFill>
                <a:latin typeface="Microsoft YaHei"/>
                <a:ea typeface="Microsoft YaHei"/>
              </a:rPr>
              <a:t>· P0 中期评审与放行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B482BF2F-0B32-49D1-8191-9F41ACE549CC}"/>
              </a:ext>
            </a:extLst>
          </p:cNvPr>
          <p:cNvSpPr txBox="1"/>
          <p:nvPr/>
        </p:nvSpPr>
        <p:spPr>
          <a:xfrm>
            <a:off x="609600" y="6076950"/>
            <a:ext cx="10972800" cy="2476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2F5D46"/>
                </a:solidFill>
                <a:latin typeface="Microsoft YaHei"/>
                <a:ea typeface="Microsoft YaHei"/>
              </a:rPr>
              <a:t>12 周验收：两个 P0 场景可演示，指标可对照，监测与审计留痕 100%。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33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C846ABEB-D869-46A7-A720-74AC101F5432}"/>
              </a:ext>
            </a:extLst>
          </p:cNvPr>
          <p:cNvSpPr txBox="1"/>
          <p:nvPr/>
        </p:nvSpPr>
        <p:spPr>
          <a:xfrm>
            <a:off x="914400" y="1143000"/>
            <a:ext cx="3810000" cy="2857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B8860B"/>
                </a:solidFill>
                <a:latin typeface="Microsoft YaHei"/>
                <a:ea typeface="Microsoft YaHei"/>
              </a:rPr>
              <a:t>下一步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B96B3AD9-FE39-41FB-A77C-2DCB8C0213F9}"/>
              </a:ext>
            </a:extLst>
          </p:cNvPr>
          <p:cNvSpPr txBox="1"/>
          <p:nvPr/>
        </p:nvSpPr>
        <p:spPr>
          <a:xfrm>
            <a:off x="914400" y="1562100"/>
            <a:ext cx="9525000" cy="1072896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6400" b="1">
                <a:solidFill>
                  <a:srgbClr val="F7F3E8"/>
                </a:solidFill>
                <a:latin typeface="Microsoft YaHei"/>
                <a:ea typeface="Microsoft YaHei"/>
              </a:rPr>
              <a:t>让技术长出乡土味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5045278E-872F-4DC4-85E4-87335D0B9284}"/>
              </a:ext>
            </a:extLst>
          </p:cNvPr>
          <p:cNvSpPr txBox="1"/>
          <p:nvPr/>
        </p:nvSpPr>
        <p:spPr>
          <a:xfrm>
            <a:off x="914400" y="2857500"/>
            <a:ext cx="8572500" cy="4191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2200">
                <a:solidFill>
                  <a:srgbClr val="E8E0CE"/>
                </a:solidFill>
                <a:latin typeface="Microsoft YaHei"/>
                <a:ea typeface="Microsoft YaHei"/>
              </a:rPr>
              <a:t>从一张契约卡、一个知识库、两个 P0 试点开始。</a:t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BAD437FA-600C-4B5C-B98C-D3757BD999B0}"/>
              </a:ext>
            </a:extLst>
          </p:cNvPr>
          <p:cNvSpPr txBox="1"/>
          <p:nvPr/>
        </p:nvSpPr>
        <p:spPr>
          <a:xfrm>
            <a:off x="914400" y="4000500"/>
            <a:ext cx="2857500" cy="33528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F5F1E6"/>
                </a:solidFill>
                <a:latin typeface="Microsoft YaHei"/>
                <a:ea typeface="Microsoft YaHei"/>
              </a:rPr>
              <a:t>01 评审蓝图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62734CED-3D39-470B-A299-A8C0B045B405}"/>
              </a:ext>
            </a:extLst>
          </p:cNvPr>
          <p:cNvSpPr txBox="1"/>
          <p:nvPr/>
        </p:nvSpPr>
        <p:spPr>
          <a:xfrm>
            <a:off x="914400" y="4362450"/>
            <a:ext cx="2857500" cy="2476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300">
                <a:solidFill>
                  <a:srgbClr val="C9BFA9"/>
                </a:solidFill>
                <a:latin typeface="Microsoft YaHei"/>
                <a:ea typeface="Microsoft YaHei"/>
              </a:rPr>
              <a:t>对齐目标、边界与优先级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65157367-C90B-4F11-9B29-DF6712C017B4}"/>
              </a:ext>
            </a:extLst>
          </p:cNvPr>
          <p:cNvSpPr txBox="1"/>
          <p:nvPr/>
        </p:nvSpPr>
        <p:spPr>
          <a:xfrm>
            <a:off x="4572000" y="4000500"/>
            <a:ext cx="2857500" cy="33528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F5F1E6"/>
                </a:solidFill>
                <a:latin typeface="Microsoft YaHei"/>
                <a:ea typeface="Microsoft YaHei"/>
              </a:rPr>
              <a:t>02 数据盘点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943482E4-49EB-4A3F-B8D4-02D0A1D562A3}"/>
              </a:ext>
            </a:extLst>
          </p:cNvPr>
          <p:cNvSpPr txBox="1"/>
          <p:nvPr/>
        </p:nvSpPr>
        <p:spPr>
          <a:xfrm>
            <a:off x="4572000" y="4362450"/>
            <a:ext cx="2857500" cy="2476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300">
                <a:solidFill>
                  <a:srgbClr val="C9BFA9"/>
                </a:solidFill>
                <a:latin typeface="Microsoft YaHei"/>
                <a:ea typeface="Microsoft YaHei"/>
              </a:rPr>
              <a:t>地块、作物、批次、知识源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E727AF17-2097-4AAB-B45B-6CFFB7733E19}"/>
              </a:ext>
            </a:extLst>
          </p:cNvPr>
          <p:cNvSpPr txBox="1"/>
          <p:nvPr/>
        </p:nvSpPr>
        <p:spPr>
          <a:xfrm>
            <a:off x="8229600" y="4000500"/>
            <a:ext cx="2857500" cy="33528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F5F1E6"/>
                </a:solidFill>
                <a:latin typeface="Microsoft YaHei"/>
                <a:ea typeface="Microsoft YaHei"/>
              </a:rPr>
              <a:t>03 启动试点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359AAF66-A8D8-4E88-B6B3-2ADD073BF10C}"/>
              </a:ext>
            </a:extLst>
          </p:cNvPr>
          <p:cNvSpPr txBox="1"/>
          <p:nvPr/>
        </p:nvSpPr>
        <p:spPr>
          <a:xfrm>
            <a:off x="8229600" y="4362450"/>
            <a:ext cx="2857500" cy="2476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300">
                <a:solidFill>
                  <a:srgbClr val="C9BFA9"/>
                </a:solidFill>
                <a:latin typeface="Microsoft YaHei"/>
                <a:ea typeface="Microsoft YaHei"/>
              </a:rPr>
              <a:t>语音问答 + 病虫害识别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B0EF3C44-B9A6-410C-BE30-F15A9F3D1661}"/>
              </a:ext>
            </a:extLst>
          </p:cNvPr>
          <p:cNvSpPr txBox="1"/>
          <p:nvPr/>
        </p:nvSpPr>
        <p:spPr>
          <a:xfrm>
            <a:off x="914400" y="6038850"/>
            <a:ext cx="7620000" cy="2476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400">
                <a:solidFill>
                  <a:srgbClr val="C9BFA9"/>
                </a:solidFill>
                <a:latin typeface="Microsoft YaHei"/>
                <a:ea typeface="Microsoft YaHei"/>
              </a:rPr>
              <a:t>兴隆沟村 · 智能系统建设小组 · 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4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D1EE18EC-C9E0-47D1-891D-47EEC4F4A0D0}"/>
              </a:ext>
            </a:extLst>
          </p:cNvPr>
          <p:cNvSpPr txBox="1"/>
          <p:nvPr/>
        </p:nvSpPr>
        <p:spPr>
          <a:xfrm>
            <a:off x="609600" y="495300"/>
            <a:ext cx="3810000" cy="2667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2F5D46"/>
                </a:solidFill>
                <a:latin typeface="Microsoft YaHei"/>
                <a:ea typeface="Microsoft YaHei"/>
              </a:rPr>
              <a:t>技术底座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E5C7F464-ECFE-4383-889F-8DF4B6AE57D3}"/>
              </a:ext>
            </a:extLst>
          </p:cNvPr>
          <p:cNvSpPr txBox="1"/>
          <p:nvPr/>
        </p:nvSpPr>
        <p:spPr>
          <a:xfrm>
            <a:off x="609600" y="800100"/>
            <a:ext cx="11049000" cy="6858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3600" b="1">
                <a:solidFill>
                  <a:srgbClr val="26302A"/>
                </a:solidFill>
                <a:latin typeface="Microsoft YaHei"/>
                <a:ea typeface="Microsoft YaHei"/>
              </a:rPr>
              <a:t>技术路线：不自研大模型，先用现成能力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D7B0ED30-D1F4-449F-981A-8751591B746A}"/>
              </a:ext>
            </a:extLst>
          </p:cNvPr>
          <p:cNvSpPr/>
          <p:nvPr/>
        </p:nvSpPr>
        <p:spPr>
          <a:xfrm>
            <a:off x="609600" y="1714500"/>
            <a:ext cx="3505200" cy="314325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CCB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037A669A-9A20-43C4-9A37-064C2A80B27C}"/>
              </a:ext>
            </a:extLst>
          </p:cNvPr>
          <p:cNvSpPr txBox="1"/>
          <p:nvPr/>
        </p:nvSpPr>
        <p:spPr>
          <a:xfrm>
            <a:off x="876300" y="1924050"/>
            <a:ext cx="571500" cy="2095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B8860B"/>
                </a:solidFill>
                <a:latin typeface="Georgia"/>
                <a:ea typeface="Georgia"/>
              </a:rPr>
              <a:t>01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DED87F44-EEAC-4C71-A4EC-412897FF419D}"/>
              </a:ext>
            </a:extLst>
          </p:cNvPr>
          <p:cNvSpPr txBox="1"/>
          <p:nvPr/>
        </p:nvSpPr>
        <p:spPr>
          <a:xfrm>
            <a:off x="876300" y="2152650"/>
            <a:ext cx="2971800" cy="3048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26302A"/>
                </a:solidFill>
                <a:latin typeface="Microsoft YaHei"/>
                <a:ea typeface="Microsoft YaHei"/>
              </a:rPr>
              <a:t>默认调用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7B1F1D85-5998-43DD-B493-B5EF7D47DD27}"/>
              </a:ext>
            </a:extLst>
          </p:cNvPr>
          <p:cNvSpPr txBox="1"/>
          <p:nvPr/>
        </p:nvSpPr>
        <p:spPr>
          <a:xfrm>
            <a:off x="876300" y="2571750"/>
            <a:ext cx="2971800" cy="14287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00">
                <a:solidFill>
                  <a:srgbClr val="26302A"/>
                </a:solidFill>
                <a:latin typeface="Microsoft YaHei"/>
                <a:ea typeface="Microsoft YaHei"/>
              </a:rPr>
              <a:t>· 神农 4.0：1016 种病虫害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00">
                <a:solidFill>
                  <a:srgbClr val="26302A"/>
                </a:solidFill>
                <a:latin typeface="Microsoft YaHei"/>
                <a:ea typeface="Microsoft YaHei"/>
              </a:rPr>
              <a:t>· 官方口径 93%+，需本地复测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00">
                <a:solidFill>
                  <a:srgbClr val="26302A"/>
                </a:solidFill>
                <a:latin typeface="Microsoft YaHei"/>
                <a:ea typeface="Microsoft YaHei"/>
              </a:rPr>
              <a:t>· API + MCP，支持方言</a:t>
            </a:r>
          </a:p>
          <a:p>
            <a:pPr algn="l">
              <a:lnSpc>
                <a:spcPct val="120000"/>
              </a:lnSpc>
            </a:pPr>
            <a:r>
              <a:rPr sz="1300">
                <a:solidFill>
                  <a:srgbClr val="26302A"/>
                </a:solidFill>
                <a:latin typeface="Microsoft YaHei"/>
                <a:ea typeface="Microsoft YaHei"/>
              </a:rPr>
              <a:t>· 农科小智作为备选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186B5800-680B-4761-9B3A-9409BFB3B72B}"/>
              </a:ext>
            </a:extLst>
          </p:cNvPr>
          <p:cNvSpPr txBox="1"/>
          <p:nvPr/>
        </p:nvSpPr>
        <p:spPr>
          <a:xfrm>
            <a:off x="876300" y="4248150"/>
            <a:ext cx="2971800" cy="2476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2F5D46"/>
                </a:solidFill>
                <a:latin typeface="Microsoft YaHei"/>
                <a:ea typeface="Microsoft YaHei"/>
              </a:rPr>
              <a:t>零训练 · 2 周可验证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FD4054A0-9BE5-4D0E-81D9-4E32473DB833}"/>
              </a:ext>
            </a:extLst>
          </p:cNvPr>
          <p:cNvSpPr/>
          <p:nvPr/>
        </p:nvSpPr>
        <p:spPr>
          <a:xfrm>
            <a:off x="4343400" y="1714500"/>
            <a:ext cx="3505200" cy="314325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CCB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DE4321A1-889A-429E-AEF1-5FDE0D17CF6C}"/>
              </a:ext>
            </a:extLst>
          </p:cNvPr>
          <p:cNvSpPr txBox="1"/>
          <p:nvPr/>
        </p:nvSpPr>
        <p:spPr>
          <a:xfrm>
            <a:off x="4610100" y="1924050"/>
            <a:ext cx="571500" cy="2095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B8860B"/>
                </a:solidFill>
                <a:latin typeface="Georgia"/>
                <a:ea typeface="Georgia"/>
              </a:rPr>
              <a:t>02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CB3A3AC4-5FFD-4956-A512-D81235998D6E}"/>
              </a:ext>
            </a:extLst>
          </p:cNvPr>
          <p:cNvSpPr txBox="1"/>
          <p:nvPr/>
        </p:nvSpPr>
        <p:spPr>
          <a:xfrm>
            <a:off x="4610100" y="2152650"/>
            <a:ext cx="2971800" cy="3048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26302A"/>
                </a:solidFill>
                <a:latin typeface="Microsoft YaHei"/>
                <a:ea typeface="Microsoft YaHei"/>
              </a:rPr>
              <a:t>知识检索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52D42547-E253-41AC-BF54-5332ED2FAC03}"/>
              </a:ext>
            </a:extLst>
          </p:cNvPr>
          <p:cNvSpPr txBox="1"/>
          <p:nvPr/>
        </p:nvSpPr>
        <p:spPr>
          <a:xfrm>
            <a:off x="4610100" y="2571750"/>
            <a:ext cx="2971800" cy="14287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00">
                <a:solidFill>
                  <a:srgbClr val="26302A"/>
                </a:solidFill>
                <a:latin typeface="Microsoft YaHei"/>
                <a:ea typeface="Microsoft YaHei"/>
              </a:rPr>
              <a:t>· pgvector + CloudBase PG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00">
                <a:solidFill>
                  <a:srgbClr val="26302A"/>
                </a:solidFill>
                <a:latin typeface="Microsoft YaHei"/>
                <a:ea typeface="Microsoft YaHei"/>
              </a:rPr>
              <a:t>· 语料：政策 / 农技 / 村情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00">
                <a:solidFill>
                  <a:srgbClr val="26302A"/>
                </a:solidFill>
                <a:latin typeface="Microsoft YaHei"/>
                <a:ea typeface="Microsoft YaHei"/>
              </a:rPr>
              <a:t>· 答案强制带引用</a:t>
            </a:r>
          </a:p>
          <a:p>
            <a:pPr algn="l">
              <a:lnSpc>
                <a:spcPct val="120000"/>
              </a:lnSpc>
            </a:pPr>
            <a:r>
              <a:rPr sz="1300">
                <a:solidFill>
                  <a:srgbClr val="26302A"/>
                </a:solidFill>
                <a:latin typeface="Microsoft YaHei"/>
                <a:ea typeface="Microsoft YaHei"/>
              </a:rPr>
              <a:t>· 村情条目需审核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76772F8B-0EDA-49D2-A6C9-36E6148573EE}"/>
              </a:ext>
            </a:extLst>
          </p:cNvPr>
          <p:cNvSpPr txBox="1"/>
          <p:nvPr/>
        </p:nvSpPr>
        <p:spPr>
          <a:xfrm>
            <a:off x="4610100" y="4248150"/>
            <a:ext cx="2971800" cy="2476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2F5D46"/>
                </a:solidFill>
                <a:latin typeface="Microsoft YaHei"/>
                <a:ea typeface="Microsoft YaHei"/>
              </a:rPr>
              <a:t>知识不进模型参数</a:t>
            </a:r>
          </a:p>
        </p:txBody>
      </p:sp>
      <p:sp>
        <p:nvSpPr>
          <p:cNvPr id="15" name="Shape 15">
            <a:extLst>
              <a:ext uri="{FF2B5EF4-FFF2-40B4-BE49-F238E27FC236}">
                <a16:creationId xmlns:a16="http://schemas.microsoft.com/office/drawing/2014/main" id="{880796B9-5338-4C7A-AE61-495EFAE08EDC}"/>
              </a:ext>
            </a:extLst>
          </p:cNvPr>
          <p:cNvSpPr/>
          <p:nvPr/>
        </p:nvSpPr>
        <p:spPr>
          <a:xfrm>
            <a:off x="8077200" y="1714500"/>
            <a:ext cx="3505200" cy="314325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CCB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5E932271-2E1B-43BC-971D-009FA0D4ACB4}"/>
              </a:ext>
            </a:extLst>
          </p:cNvPr>
          <p:cNvSpPr txBox="1"/>
          <p:nvPr/>
        </p:nvSpPr>
        <p:spPr>
          <a:xfrm>
            <a:off x="8343900" y="1924050"/>
            <a:ext cx="571500" cy="2095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B8860B"/>
                </a:solidFill>
                <a:latin typeface="Georgia"/>
                <a:ea typeface="Georgia"/>
              </a:rPr>
              <a:t>03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2A61C901-1D6B-4C26-A943-A4DD7A5DDA68}"/>
              </a:ext>
            </a:extLst>
          </p:cNvPr>
          <p:cNvSpPr txBox="1"/>
          <p:nvPr/>
        </p:nvSpPr>
        <p:spPr>
          <a:xfrm>
            <a:off x="8343900" y="2152650"/>
            <a:ext cx="2971800" cy="3048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26302A"/>
                </a:solidFill>
                <a:latin typeface="Microsoft YaHei"/>
                <a:ea typeface="Microsoft YaHei"/>
              </a:rPr>
              <a:t>条件微调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A1E81445-7344-46DA-9BE6-C7DDB227A0B7}"/>
              </a:ext>
            </a:extLst>
          </p:cNvPr>
          <p:cNvSpPr txBox="1"/>
          <p:nvPr/>
        </p:nvSpPr>
        <p:spPr>
          <a:xfrm>
            <a:off x="8343900" y="2571750"/>
            <a:ext cx="2971800" cy="14287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00">
                <a:solidFill>
                  <a:srgbClr val="26302A"/>
                </a:solidFill>
                <a:latin typeface="Microsoft YaHei"/>
                <a:ea typeface="Microsoft YaHei"/>
              </a:rPr>
              <a:t>· 触发：本地 Top-3 &lt; 80%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00">
                <a:solidFill>
                  <a:srgbClr val="26302A"/>
                </a:solidFill>
                <a:latin typeface="Microsoft YaHei"/>
                <a:ea typeface="Microsoft YaHei"/>
              </a:rPr>
              <a:t>· 数据：AI Challenger / IP102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00">
                <a:solidFill>
                  <a:srgbClr val="26302A"/>
                </a:solidFill>
                <a:latin typeface="Microsoft YaHei"/>
                <a:ea typeface="Microsoft YaHei"/>
              </a:rPr>
              <a:t>· 只用本地照片校准</a:t>
            </a:r>
          </a:p>
          <a:p>
            <a:pPr algn="l">
              <a:lnSpc>
                <a:spcPct val="120000"/>
              </a:lnSpc>
            </a:pPr>
            <a:r>
              <a:rPr sz="1300">
                <a:solidFill>
                  <a:srgbClr val="26302A"/>
                </a:solidFill>
                <a:latin typeface="Microsoft YaHei"/>
                <a:ea typeface="Microsoft YaHei"/>
              </a:rPr>
              <a:t>· 只训轻量视觉模型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C53CFC42-4527-403E-B351-45CCF418835B}"/>
              </a:ext>
            </a:extLst>
          </p:cNvPr>
          <p:cNvSpPr txBox="1"/>
          <p:nvPr/>
        </p:nvSpPr>
        <p:spPr>
          <a:xfrm>
            <a:off x="8343900" y="4248150"/>
            <a:ext cx="2971800" cy="2476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2F5D46"/>
                </a:solidFill>
                <a:latin typeface="Microsoft YaHei"/>
                <a:ea typeface="Microsoft YaHei"/>
              </a:rPr>
              <a:t>不训大语言模型</a:t>
            </a:r>
          </a:p>
        </p:txBody>
      </p:sp>
      <p:sp>
        <p:nvSpPr>
          <p:cNvPr id="20" name="Shape 20">
            <a:extLst>
              <a:ext uri="{FF2B5EF4-FFF2-40B4-BE49-F238E27FC236}">
                <a16:creationId xmlns:a16="http://schemas.microsoft.com/office/drawing/2014/main" id="{9B9DD772-7526-4716-8E3C-FB4CB11E9704}"/>
              </a:ext>
            </a:extLst>
          </p:cNvPr>
          <p:cNvSpPr/>
          <p:nvPr/>
        </p:nvSpPr>
        <p:spPr>
          <a:xfrm>
            <a:off x="609600" y="5143500"/>
            <a:ext cx="10972800" cy="123825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CCB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14EE65E0-AB85-422E-993C-11A8FB04EEB6}"/>
              </a:ext>
            </a:extLst>
          </p:cNvPr>
          <p:cNvSpPr txBox="1"/>
          <p:nvPr/>
        </p:nvSpPr>
        <p:spPr>
          <a:xfrm>
            <a:off x="914400" y="5295900"/>
            <a:ext cx="10363200" cy="2667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B8860B"/>
                </a:solidFill>
                <a:latin typeface="Microsoft YaHei"/>
                <a:ea typeface="Microsoft YaHei"/>
              </a:rPr>
              <a:t>三条红线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7B94A180-034E-4C92-B7A2-F920AAF696BF}"/>
              </a:ext>
            </a:extLst>
          </p:cNvPr>
          <p:cNvSpPr txBox="1"/>
          <p:nvPr/>
        </p:nvSpPr>
        <p:spPr>
          <a:xfrm>
            <a:off x="914400" y="5600700"/>
            <a:ext cx="10363200" cy="814832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>
                <a:solidFill>
                  <a:srgbClr val="26302A"/>
                </a:solidFill>
                <a:latin typeface="Microsoft YaHei"/>
                <a:ea typeface="Microsoft YaHei"/>
              </a:rPr>
              <a:t>· 准确率以本地 50–100 张实拍复测为准，不引用厂商宣传值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>
                <a:solidFill>
                  <a:srgbClr val="26302A"/>
                </a:solidFill>
                <a:latin typeface="Microsoft YaHei"/>
                <a:ea typeface="Microsoft YaHei"/>
              </a:rPr>
              <a:t>· 第三方 API 先核验商用条款、数据出域与留存政策</a:t>
            </a:r>
          </a:p>
          <a:p>
            <a:pPr algn="l">
              <a:lnSpc>
                <a:spcPct val="120000"/>
              </a:lnSpc>
            </a:pPr>
            <a:r>
              <a:rPr sz="1300">
                <a:solidFill>
                  <a:srgbClr val="26302A"/>
                </a:solidFill>
                <a:latin typeface="Microsoft YaHei"/>
                <a:ea typeface="Microsoft YaHei"/>
              </a:rPr>
              <a:t>· 案例、竞品、推广稿只存档，不进入运行时知识库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C43E1C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Microsoft YaHei"/>
        <a:cs typeface=""/>
      </a:majorFont>
      <a:minorFont>
        <a:latin typeface="Calibri"/>
        <a:ea typeface="Microsoft YaHei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