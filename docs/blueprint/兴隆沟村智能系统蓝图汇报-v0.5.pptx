
<file path=[Content_Types].xml><?xml version="1.0" encoding="utf-8"?>
<Types xmlns="http://schemas.openxmlformats.org/package/2006/content-types"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2" r:id="rId18"/>
    <p:sldId id="273" r:id="rId19"/>
    <p:sldId id="274" r:id="rId20"/>
    <p:sldId id="259" r:id="rId5"/>
    <p:sldId id="260" r:id="rId6"/>
    <p:sldId id="268" r:id="rId14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C17CEFD-1095-4060-9274-A8673CA192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8D635E3F-A247-421E-BE33-C6B63754F5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41B">
              <a:alpha val="90196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FC741F6-60DE-45CF-9E09-1BA00396E63B}"/>
              </a:ext>
            </a:extLst>
          </p:cNvPr>
          <p:cNvSpPr txBox="1"/>
          <p:nvPr/>
        </p:nvSpPr>
        <p:spPr>
          <a:xfrm>
            <a:off x="914400" y="1333500"/>
            <a:ext cx="8572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>
                <a:solidFill>
                  <a:srgbClr val="D9C9A3"/>
                </a:solidFill>
                <a:latin typeface="Microsoft YaHei"/>
                <a:ea typeface="Microsoft YaHei"/>
              </a:rPr>
              <a:t>兴隆沟村智能系统蓝图 · 2026—2028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A65AC77-0C8A-4D9B-A89C-A33C47DF6ACD}"/>
              </a:ext>
            </a:extLst>
          </p:cNvPr>
          <p:cNvSpPr txBox="1"/>
          <p:nvPr/>
        </p:nvSpPr>
        <p:spPr>
          <a:xfrm>
            <a:off x="914400" y="1866900"/>
            <a:ext cx="9525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6800" b="1">
                <a:solidFill>
                  <a:srgbClr val="F7F3E8"/>
                </a:solidFill>
                <a:latin typeface="Microsoft YaHei"/>
                <a:ea typeface="Microsoft YaHei"/>
              </a:rPr>
              <a:t>让 AI 扎根乡土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27466A7-647A-49F7-85E2-FE45A23690C0}"/>
              </a:ext>
            </a:extLst>
          </p:cNvPr>
          <p:cNvSpPr txBox="1"/>
          <p:nvPr/>
        </p:nvSpPr>
        <p:spPr>
          <a:xfrm>
            <a:off x="914400" y="3333750"/>
            <a:ext cx="1000125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200">
                <a:solidFill>
                  <a:srgbClr val="E8E0CE"/>
                </a:solidFill>
                <a:latin typeface="Microsoft YaHei"/>
                <a:ea typeface="Microsoft YaHei"/>
              </a:rPr>
              <a:t>用有边界的 Agent，辅助乡村服务与资源的整合、流转、交易与监管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E14A9CF-C92C-423D-93C2-894148F58C1A}"/>
              </a:ext>
            </a:extLst>
          </p:cNvPr>
          <p:cNvSpPr txBox="1"/>
          <p:nvPr/>
        </p:nvSpPr>
        <p:spPr>
          <a:xfrm>
            <a:off x="914400" y="5829300"/>
            <a:ext cx="7620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C9BFA9"/>
                </a:solidFill>
                <a:latin typeface="Microsoft YaHei"/>
                <a:ea typeface="Microsoft YaHei"/>
              </a:rPr>
              <a:t>汇报版 v0.5 ·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FBD033E-02CA-4AE3-9EC3-2551CB7D9E5B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核心主张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51F111B-867A-4998-848C-5123DD8D9309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不是做机器人，而是建一支懂边界的 Agent 队伍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573ED48-84A1-4388-B9B3-D96E4057462E}"/>
              </a:ext>
            </a:extLst>
          </p:cNvPr>
          <p:cNvSpPr txBox="1"/>
          <p:nvPr/>
        </p:nvSpPr>
        <p:spPr>
          <a:xfrm>
            <a:off x="609600" y="1866900"/>
            <a:ext cx="1714500" cy="13411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8000" b="1">
                <a:solidFill>
                  <a:srgbClr val="2F5D46"/>
                </a:solidFill>
                <a:latin typeface="Georgia"/>
                <a:ea typeface="Georgia"/>
              </a:rPr>
              <a:t>10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78E32A3-026A-4DEC-A68D-2B5B8C3B0A5B}"/>
              </a:ext>
            </a:extLst>
          </p:cNvPr>
          <p:cNvSpPr txBox="1"/>
          <p:nvPr/>
        </p:nvSpPr>
        <p:spPr>
          <a:xfrm>
            <a:off x="2381250" y="2438400"/>
            <a:ext cx="1905000" cy="4023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F5D46"/>
                </a:solidFill>
                <a:latin typeface="Microsoft YaHei"/>
                <a:ea typeface="Microsoft YaHei"/>
              </a:rPr>
              <a:t>个 Agent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D045F5-8B6F-44EE-A0D9-F892D7A16108}"/>
              </a:ext>
            </a:extLst>
          </p:cNvPr>
          <p:cNvSpPr txBox="1"/>
          <p:nvPr/>
        </p:nvSpPr>
        <p:spPr>
          <a:xfrm>
            <a:off x="609600" y="3390900"/>
            <a:ext cx="49530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>
                <a:solidFill>
                  <a:srgbClr val="26302A"/>
                </a:solidFill>
                <a:latin typeface="Microsoft YaHei"/>
                <a:ea typeface="Microsoft YaHei"/>
              </a:rPr>
              <a:t>5 个角色助手嵌入工作台，5 个职能 Agent 跨角色巡检；每个 Agent 上线前都要签一张契约卡。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7144AC5-4A2A-417C-87E2-24EA2855EF52}"/>
              </a:ext>
            </a:extLst>
          </p:cNvPr>
          <p:cNvSpPr txBox="1"/>
          <p:nvPr/>
        </p:nvSpPr>
        <p:spPr>
          <a:xfrm>
            <a:off x="6477000" y="1866900"/>
            <a:ext cx="51054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6302A"/>
                </a:solidFill>
                <a:latin typeface="Microsoft YaHei"/>
                <a:ea typeface="Microsoft YaHei"/>
              </a:rPr>
              <a:t>角色分工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AAF4FD7-827F-48F2-990A-AEA09CCEA23B}"/>
              </a:ext>
            </a:extLst>
          </p:cNvPr>
          <p:cNvSpPr txBox="1"/>
          <p:nvPr/>
        </p:nvSpPr>
        <p:spPr>
          <a:xfrm>
            <a:off x="6477000" y="2209800"/>
            <a:ext cx="5105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6B746C"/>
                </a:solidFill>
                <a:latin typeface="Microsoft YaHei"/>
                <a:ea typeface="Microsoft YaHei"/>
              </a:rPr>
              <a:t>五个角色各有专属助手，权限随角色走。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7F53FFB8-7762-414B-9153-5C655C9D99E0}"/>
              </a:ext>
            </a:extLst>
          </p:cNvPr>
          <p:cNvSpPr/>
          <p:nvPr/>
        </p:nvSpPr>
        <p:spPr>
          <a:xfrm>
            <a:off x="6477000" y="2686050"/>
            <a:ext cx="5105400" cy="9525"/>
          </a:xfrm>
          <a:prstGeom prst="rect">
            <a:avLst/>
          </a:prstGeom>
          <a:solidFill>
            <a:srgbClr val="E3DCC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D27852C-18BA-466A-85BD-5C9012317BD2}"/>
              </a:ext>
            </a:extLst>
          </p:cNvPr>
          <p:cNvSpPr txBox="1"/>
          <p:nvPr/>
        </p:nvSpPr>
        <p:spPr>
          <a:xfrm>
            <a:off x="6477000" y="2857500"/>
            <a:ext cx="51054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6302A"/>
                </a:solidFill>
                <a:latin typeface="Microsoft YaHei"/>
                <a:ea typeface="Microsoft YaHei"/>
              </a:rPr>
              <a:t>契约边界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FBF20F7-1764-4965-A823-3BD2ACD2627B}"/>
              </a:ext>
            </a:extLst>
          </p:cNvPr>
          <p:cNvSpPr txBox="1"/>
          <p:nvPr/>
        </p:nvSpPr>
        <p:spPr>
          <a:xfrm>
            <a:off x="6477000" y="3200400"/>
            <a:ext cx="5105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6B746C"/>
                </a:solidFill>
                <a:latin typeface="Microsoft YaHei"/>
                <a:ea typeface="Microsoft YaHei"/>
              </a:rPr>
              <a:t>数据、接口、业务范围写死，越界即升级给人。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B1AF591-E1CC-4574-AF1F-52CAF7B954CE}"/>
              </a:ext>
            </a:extLst>
          </p:cNvPr>
          <p:cNvSpPr/>
          <p:nvPr/>
        </p:nvSpPr>
        <p:spPr>
          <a:xfrm>
            <a:off x="6477000" y="3676650"/>
            <a:ext cx="5105400" cy="9525"/>
          </a:xfrm>
          <a:prstGeom prst="rect">
            <a:avLst/>
          </a:prstGeom>
          <a:solidFill>
            <a:srgbClr val="E3DCC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53D9970-1002-48FE-B6BC-2AF3351C3F3E}"/>
              </a:ext>
            </a:extLst>
          </p:cNvPr>
          <p:cNvSpPr txBox="1"/>
          <p:nvPr/>
        </p:nvSpPr>
        <p:spPr>
          <a:xfrm>
            <a:off x="6477000" y="3848100"/>
            <a:ext cx="51054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6302A"/>
                </a:solidFill>
                <a:latin typeface="Microsoft YaHei"/>
                <a:ea typeface="Microsoft YaHei"/>
              </a:rPr>
              <a:t>事件流转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F32F6FE-2CF7-45CC-97CC-6FD34707DB4B}"/>
              </a:ext>
            </a:extLst>
          </p:cNvPr>
          <p:cNvSpPr txBox="1"/>
          <p:nvPr/>
        </p:nvSpPr>
        <p:spPr>
          <a:xfrm>
            <a:off x="6477000" y="4191000"/>
            <a:ext cx="5105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6B746C"/>
                </a:solidFill>
                <a:latin typeface="Microsoft YaHei"/>
                <a:ea typeface="Microsoft YaHei"/>
              </a:rPr>
              <a:t>跨角色协作走事件总线，不靠页面跳转和人肉传话。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F20722F-0D35-48FF-B031-08A300A2C4F0}"/>
              </a:ext>
            </a:extLst>
          </p:cNvPr>
          <p:cNvSpPr txBox="1"/>
          <p:nvPr/>
        </p:nvSpPr>
        <p:spPr>
          <a:xfrm>
            <a:off x="609600" y="5600700"/>
            <a:ext cx="109728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B8860B"/>
                </a:solidFill>
                <a:latin typeface="Microsoft YaHei"/>
                <a:ea typeface="Microsoft YaHei"/>
              </a:rPr>
              <a:t>边界先于智能：没有契约卡的 Agent 不允许上线。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F99975E-E593-472A-AF00-E4D779488CE2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现状盘点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22BED98-CEE5-4D2D-AE7A-87D5963DFC68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骨架已经有了，缺的是数据、智能与监控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CD46F67-8EF5-4E99-AFC1-ED169407C961}"/>
              </a:ext>
            </a:extLst>
          </p:cNvPr>
          <p:cNvSpPr/>
          <p:nvPr/>
        </p:nvSpPr>
        <p:spPr>
          <a:xfrm>
            <a:off x="609600" y="1714500"/>
            <a:ext cx="5257800" cy="390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2EEEE89-23FA-49E7-8B4F-023D9F818F0A}"/>
              </a:ext>
            </a:extLst>
          </p:cNvPr>
          <p:cNvSpPr txBox="1"/>
          <p:nvPr/>
        </p:nvSpPr>
        <p:spPr>
          <a:xfrm>
            <a:off x="914400" y="2000250"/>
            <a:ext cx="45720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F5D46"/>
                </a:solidFill>
                <a:latin typeface="Microsoft YaHei"/>
                <a:ea typeface="Microsoft YaHei"/>
              </a:rPr>
              <a:t>已经具备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8F2FD5F-23A0-4FE7-997E-E3C712FB9DE9}"/>
              </a:ext>
            </a:extLst>
          </p:cNvPr>
          <p:cNvSpPr txBox="1"/>
          <p:nvPr/>
        </p:nvSpPr>
        <p:spPr>
          <a:xfrm>
            <a:off x="914400" y="255270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内容驱动官网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832784C-C0B2-4CE2-B8A0-6DC3DB4303DE}"/>
              </a:ext>
            </a:extLst>
          </p:cNvPr>
          <p:cNvSpPr txBox="1"/>
          <p:nvPr/>
        </p:nvSpPr>
        <p:spPr>
          <a:xfrm>
            <a:off x="914400" y="281940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改 site.json 即可上线，SEO 与内容模型已就绪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2D02AAF-4DBC-4FF9-B260-2D6798AF05A4}"/>
              </a:ext>
            </a:extLst>
          </p:cNvPr>
          <p:cNvSpPr txBox="1"/>
          <p:nvPr/>
        </p:nvSpPr>
        <p:spPr>
          <a:xfrm>
            <a:off x="914400" y="325755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五角色工作台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FD26E2F-3055-4687-BAC4-F028DD2300E5}"/>
              </a:ext>
            </a:extLst>
          </p:cNvPr>
          <p:cNvSpPr txBox="1"/>
          <p:nvPr/>
        </p:nvSpPr>
        <p:spPr>
          <a:xfrm>
            <a:off x="914400" y="352425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路由、按区懒加载、权限守卫已跑通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A286ABA-5D39-4598-B754-09708091FFEA}"/>
              </a:ext>
            </a:extLst>
          </p:cNvPr>
          <p:cNvSpPr txBox="1"/>
          <p:nvPr/>
        </p:nvSpPr>
        <p:spPr>
          <a:xfrm>
            <a:off x="914400" y="396240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角色授权云函数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467B3E8-7BEB-49AA-9DAC-1003FB9BC0C2}"/>
              </a:ext>
            </a:extLst>
          </p:cNvPr>
          <p:cNvSpPr txBox="1"/>
          <p:nvPr/>
        </p:nvSpPr>
        <p:spPr>
          <a:xfrm>
            <a:off x="914400" y="422910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身份只信 TCB_UUID，PG 授权表已上线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B85BC60-9FD3-49BE-8334-74EF19D2343E}"/>
              </a:ext>
            </a:extLst>
          </p:cNvPr>
          <p:cNvSpPr txBox="1"/>
          <p:nvPr/>
        </p:nvSpPr>
        <p:spPr>
          <a:xfrm>
            <a:off x="914400" y="466725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CloudBase 底座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E0E17EA-FE35-4201-9EC6-3530AA5FF600}"/>
              </a:ext>
            </a:extLst>
          </p:cNvPr>
          <p:cNvSpPr txBox="1"/>
          <p:nvPr/>
        </p:nvSpPr>
        <p:spPr>
          <a:xfrm>
            <a:off x="914400" y="493395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托管、云函数、PostgreSQL、短信登录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3978B10-0CA4-4DE0-9DAE-1A8684DA2175}"/>
              </a:ext>
            </a:extLst>
          </p:cNvPr>
          <p:cNvSpPr/>
          <p:nvPr/>
        </p:nvSpPr>
        <p:spPr>
          <a:xfrm>
            <a:off x="6324600" y="1714500"/>
            <a:ext cx="5257800" cy="390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6979D23-9655-485E-96D9-2D98EE85A4E3}"/>
              </a:ext>
            </a:extLst>
          </p:cNvPr>
          <p:cNvSpPr txBox="1"/>
          <p:nvPr/>
        </p:nvSpPr>
        <p:spPr>
          <a:xfrm>
            <a:off x="6629400" y="2000250"/>
            <a:ext cx="45720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B8860B"/>
                </a:solidFill>
                <a:latin typeface="Microsoft YaHei"/>
                <a:ea typeface="Microsoft YaHei"/>
              </a:rPr>
              <a:t>关键差距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5608161-4DB4-4F62-B94B-C644D4035DF3}"/>
              </a:ext>
            </a:extLst>
          </p:cNvPr>
          <p:cNvSpPr txBox="1"/>
          <p:nvPr/>
        </p:nvSpPr>
        <p:spPr>
          <a:xfrm>
            <a:off x="6629400" y="255270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业务数据只有一张表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06C2D0A-FC12-4D34-8763-84821FFB29F4}"/>
              </a:ext>
            </a:extLst>
          </p:cNvPr>
          <p:cNvSpPr txBox="1"/>
          <p:nvPr/>
        </p:nvSpPr>
        <p:spPr>
          <a:xfrm>
            <a:off x="6629400" y="281940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仅有 user_roles，地块、批次、订单尚未建模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DEE7C97-789A-46EB-A776-683E0E878830}"/>
              </a:ext>
            </a:extLst>
          </p:cNvPr>
          <p:cNvSpPr txBox="1"/>
          <p:nvPr/>
        </p:nvSpPr>
        <p:spPr>
          <a:xfrm>
            <a:off x="6629400" y="325755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流程靠人工跳转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EAC201E-D92B-4C67-91F4-2500D1B8BE2C}"/>
              </a:ext>
            </a:extLst>
          </p:cNvPr>
          <p:cNvSpPr txBox="1"/>
          <p:nvPr/>
        </p:nvSpPr>
        <p:spPr>
          <a:xfrm>
            <a:off x="6629400" y="352425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没有事件与状态机，进度不可追踪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4EF0D7C-D7E5-4C1A-8AB5-0B58EEED3A6D}"/>
              </a:ext>
            </a:extLst>
          </p:cNvPr>
          <p:cNvSpPr txBox="1"/>
          <p:nvPr/>
        </p:nvSpPr>
        <p:spPr>
          <a:xfrm>
            <a:off x="6629400" y="396240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无智能能力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29F5C7F-3A7C-4A15-9CA6-95CE463404D1}"/>
              </a:ext>
            </a:extLst>
          </p:cNvPr>
          <p:cNvSpPr txBox="1"/>
          <p:nvPr/>
        </p:nvSpPr>
        <p:spPr>
          <a:xfrm>
            <a:off x="6629400" y="422910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农技、质检、预警全靠人工经验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0ADAEB4-EBFD-4777-9CC4-5963B992ABC8}"/>
              </a:ext>
            </a:extLst>
          </p:cNvPr>
          <p:cNvSpPr txBox="1"/>
          <p:nvPr/>
        </p:nvSpPr>
        <p:spPr>
          <a:xfrm>
            <a:off x="6629400" y="466725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无监测与审计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83809B-38D0-474B-BAF5-E30A30967C16}"/>
              </a:ext>
            </a:extLst>
          </p:cNvPr>
          <p:cNvSpPr txBox="1"/>
          <p:nvPr/>
        </p:nvSpPr>
        <p:spPr>
          <a:xfrm>
            <a:off x="6629400" y="493395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业务动作与 Agent 缺乏留痕和指标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37596DA-9C0D-456A-86BC-27B199B44968}"/>
              </a:ext>
            </a:extLst>
          </p:cNvPr>
          <p:cNvSpPr txBox="1"/>
          <p:nvPr/>
        </p:nvSpPr>
        <p:spPr>
          <a:xfrm>
            <a:off x="609600" y="5924550"/>
            <a:ext cx="109728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F5D46"/>
                </a:solidFill>
                <a:latin typeface="Microsoft YaHei"/>
                <a:ea typeface="Microsoft YaHei"/>
              </a:rPr>
              <a:t>结论：不推倒重来——在现有骨架上长出数据、Agent 与监测三类能力。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C73C7BD-AD2E-45DF-B0F3-57BB92BC284B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建设目标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C1BF236-206D-4040-8A88-558D0FC35055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五项能力目标，每一项都可度量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5A3AC44-7470-4629-9D0B-692D7CD34141}"/>
              </a:ext>
            </a:extLst>
          </p:cNvPr>
          <p:cNvSpPr/>
          <p:nvPr/>
        </p:nvSpPr>
        <p:spPr>
          <a:xfrm>
            <a:off x="609600" y="1619250"/>
            <a:ext cx="35052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DE5A85F-798D-4B53-B49C-5FBF72310B08}"/>
              </a:ext>
            </a:extLst>
          </p:cNvPr>
          <p:cNvSpPr txBox="1"/>
          <p:nvPr/>
        </p:nvSpPr>
        <p:spPr>
          <a:xfrm>
            <a:off x="876300" y="182880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4269E80-E9B1-41FA-9EE9-91C207C3511E}"/>
              </a:ext>
            </a:extLst>
          </p:cNvPr>
          <p:cNvSpPr txBox="1"/>
          <p:nvPr/>
        </p:nvSpPr>
        <p:spPr>
          <a:xfrm>
            <a:off x="876300" y="2057400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节约人力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37A4FE2-5C8A-404F-AADE-5269E79D756D}"/>
              </a:ext>
            </a:extLst>
          </p:cNvPr>
          <p:cNvSpPr txBox="1"/>
          <p:nvPr/>
        </p:nvSpPr>
        <p:spPr>
          <a:xfrm>
            <a:off x="876300" y="241935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咨询从小时级降到分钟级，入库质检耗时下降 30% 以上。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3550339-C30C-4F71-B7CE-37F61199CCB7}"/>
              </a:ext>
            </a:extLst>
          </p:cNvPr>
          <p:cNvSpPr txBox="1"/>
          <p:nvPr/>
        </p:nvSpPr>
        <p:spPr>
          <a:xfrm>
            <a:off x="876300" y="3067050"/>
            <a:ext cx="2971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审计：100% 机器预筛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72128EDB-0888-4C88-9BD0-AE50BDD6A39E}"/>
              </a:ext>
            </a:extLst>
          </p:cNvPr>
          <p:cNvSpPr/>
          <p:nvPr/>
        </p:nvSpPr>
        <p:spPr>
          <a:xfrm>
            <a:off x="4343400" y="1619250"/>
            <a:ext cx="35052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20F7B4C-0C31-4692-A0B6-DE4EED1C4C58}"/>
              </a:ext>
            </a:extLst>
          </p:cNvPr>
          <p:cNvSpPr txBox="1"/>
          <p:nvPr/>
        </p:nvSpPr>
        <p:spPr>
          <a:xfrm>
            <a:off x="4610100" y="182880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7197EEE-DCCB-49B6-8EEB-95712DF3789E}"/>
              </a:ext>
            </a:extLst>
          </p:cNvPr>
          <p:cNvSpPr txBox="1"/>
          <p:nvPr/>
        </p:nvSpPr>
        <p:spPr>
          <a:xfrm>
            <a:off x="4610100" y="2057400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智能自治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B09B6FD-01E8-4068-AB21-A67F1EF57818}"/>
              </a:ext>
            </a:extLst>
          </p:cNvPr>
          <p:cNvSpPr txBox="1"/>
          <p:nvPr/>
        </p:nvSpPr>
        <p:spPr>
          <a:xfrm>
            <a:off x="4610100" y="241935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低风险任务由 Agent 自动完成，人工只处理例外。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2B73537-DD1E-4782-B9BD-A513ECCD37C1}"/>
              </a:ext>
            </a:extLst>
          </p:cNvPr>
          <p:cNvSpPr txBox="1"/>
          <p:nvPr/>
        </p:nvSpPr>
        <p:spPr>
          <a:xfrm>
            <a:off x="4610100" y="3067050"/>
            <a:ext cx="2971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目标：自动完成率 ≥70%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E1E7416-1DA4-4C80-BDFC-FF20DE282A8B}"/>
              </a:ext>
            </a:extLst>
          </p:cNvPr>
          <p:cNvSpPr/>
          <p:nvPr/>
        </p:nvSpPr>
        <p:spPr>
          <a:xfrm>
            <a:off x="8077200" y="1619250"/>
            <a:ext cx="35052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12410E3-755C-4EEF-B075-B83562ADB97C}"/>
              </a:ext>
            </a:extLst>
          </p:cNvPr>
          <p:cNvSpPr txBox="1"/>
          <p:nvPr/>
        </p:nvSpPr>
        <p:spPr>
          <a:xfrm>
            <a:off x="8343900" y="182880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86806B4-1FDE-4DC4-81E5-9FF16786C7D3}"/>
              </a:ext>
            </a:extLst>
          </p:cNvPr>
          <p:cNvSpPr txBox="1"/>
          <p:nvPr/>
        </p:nvSpPr>
        <p:spPr>
          <a:xfrm>
            <a:off x="8343900" y="2057400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AI 赋能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4C4BFA4-E3CC-49CE-AFD6-AE24AF40AAF9}"/>
              </a:ext>
            </a:extLst>
          </p:cNvPr>
          <p:cNvSpPr txBox="1"/>
          <p:nvPr/>
        </p:nvSpPr>
        <p:spPr>
          <a:xfrm>
            <a:off x="8343900" y="241935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每个角色至少 1 个 Agent 深度嵌入日常工作流。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7A9A0A1-A758-432A-8F17-F20FEF09B960}"/>
              </a:ext>
            </a:extLst>
          </p:cNvPr>
          <p:cNvSpPr txBox="1"/>
          <p:nvPr/>
        </p:nvSpPr>
        <p:spPr>
          <a:xfrm>
            <a:off x="8343900" y="3067050"/>
            <a:ext cx="2971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不做独立的聊天窗口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414430EA-2B9D-4B9D-BA4C-0B35625AB343}"/>
              </a:ext>
            </a:extLst>
          </p:cNvPr>
          <p:cNvSpPr/>
          <p:nvPr/>
        </p:nvSpPr>
        <p:spPr>
          <a:xfrm>
            <a:off x="609600" y="361950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1C95A19-2F00-452C-948B-C1D0F1F7D739}"/>
              </a:ext>
            </a:extLst>
          </p:cNvPr>
          <p:cNvSpPr txBox="1"/>
          <p:nvPr/>
        </p:nvSpPr>
        <p:spPr>
          <a:xfrm>
            <a:off x="876300" y="382905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F2D996A-9ECF-4C41-B14F-6C23E3D75056}"/>
              </a:ext>
            </a:extLst>
          </p:cNvPr>
          <p:cNvSpPr txBox="1"/>
          <p:nvPr/>
        </p:nvSpPr>
        <p:spPr>
          <a:xfrm>
            <a:off x="876300" y="4057650"/>
            <a:ext cx="48006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为人类增智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9685165-0DFF-487B-BA3B-578426A38507}"/>
              </a:ext>
            </a:extLst>
          </p:cNvPr>
          <p:cNvSpPr txBox="1"/>
          <p:nvPr/>
        </p:nvSpPr>
        <p:spPr>
          <a:xfrm>
            <a:off x="876300" y="4419600"/>
            <a:ext cx="48006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答案强制带来源引用；高频问答沉淀为知识条目，反哺培训与知识库。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9F25DF36-2B0D-4219-B411-DD32F2A71CA4}"/>
              </a:ext>
            </a:extLst>
          </p:cNvPr>
          <p:cNvSpPr/>
          <p:nvPr/>
        </p:nvSpPr>
        <p:spPr>
          <a:xfrm>
            <a:off x="6248400" y="361950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0020B0E-4A96-42B6-9B57-A4810C35B21C}"/>
              </a:ext>
            </a:extLst>
          </p:cNvPr>
          <p:cNvSpPr txBox="1"/>
          <p:nvPr/>
        </p:nvSpPr>
        <p:spPr>
          <a:xfrm>
            <a:off x="6515100" y="382905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98B1C0D-95AE-42A6-BB61-C23289E29AF9}"/>
              </a:ext>
            </a:extLst>
          </p:cNvPr>
          <p:cNvSpPr txBox="1"/>
          <p:nvPr/>
        </p:nvSpPr>
        <p:spPr>
          <a:xfrm>
            <a:off x="6515100" y="4057650"/>
            <a:ext cx="48006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辅助预警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FC4134C-2B4C-486A-81A0-61CADEDE5BA8}"/>
              </a:ext>
            </a:extLst>
          </p:cNvPr>
          <p:cNvSpPr txBox="1"/>
          <p:nvPr/>
        </p:nvSpPr>
        <p:spPr>
          <a:xfrm>
            <a:off x="6515100" y="4419600"/>
            <a:ext cx="48006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病虫害、气象、价格、异常交易四类预警，可解释、可处置、可回访。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6106B7B-547C-4C68-A173-D6F26CBF6B6C}"/>
              </a:ext>
            </a:extLst>
          </p:cNvPr>
          <p:cNvSpPr txBox="1"/>
          <p:nvPr/>
        </p:nvSpPr>
        <p:spPr>
          <a:xfrm>
            <a:off x="609600" y="5772150"/>
            <a:ext cx="10972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原则：人在回路默认开启；能力目标 ≠ 战略目标，战略层见前页。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72C561A-A32A-43B0-B07F-FAD3054F7DBE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系统架构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55ECF4C-F05E-408D-B230-AF18DFCF916F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六层架构：从村民到基础设施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E727C14-B298-46D4-9F97-9FF7E6038A89}"/>
              </a:ext>
            </a:extLst>
          </p:cNvPr>
          <p:cNvSpPr txBox="1"/>
          <p:nvPr/>
        </p:nvSpPr>
        <p:spPr>
          <a:xfrm>
            <a:off x="609600" y="1714500"/>
            <a:ext cx="1238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使用者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5D431DF-DC2E-494E-AE3C-A8723D3C4398}"/>
              </a:ext>
            </a:extLst>
          </p:cNvPr>
          <p:cNvSpPr/>
          <p:nvPr/>
        </p:nvSpPr>
        <p:spPr>
          <a:xfrm>
            <a:off x="2000250" y="1619250"/>
            <a:ext cx="958215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CFAD339-3306-4248-BFD2-FB1DE520A003}"/>
              </a:ext>
            </a:extLst>
          </p:cNvPr>
          <p:cNvSpPr txBox="1"/>
          <p:nvPr/>
        </p:nvSpPr>
        <p:spPr>
          <a:xfrm>
            <a:off x="2228850" y="1809750"/>
            <a:ext cx="91249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农户 · 入库员 · 消费者 · 审计员 · 管理员 ｜ 老人可用方言语音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7EA6619-0B49-4C90-9C7E-91925B5CBA0D}"/>
              </a:ext>
            </a:extLst>
          </p:cNvPr>
          <p:cNvSpPr txBox="1"/>
          <p:nvPr/>
        </p:nvSpPr>
        <p:spPr>
          <a:xfrm>
            <a:off x="609600" y="2457450"/>
            <a:ext cx="1238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交互层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D62C7C2-2609-40D4-AC5D-648067730FB1}"/>
              </a:ext>
            </a:extLst>
          </p:cNvPr>
          <p:cNvSpPr/>
          <p:nvPr/>
        </p:nvSpPr>
        <p:spPr>
          <a:xfrm>
            <a:off x="2000250" y="2362200"/>
            <a:ext cx="958215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DB29134-1E9F-4680-B902-92BEB05E700A}"/>
              </a:ext>
            </a:extLst>
          </p:cNvPr>
          <p:cNvSpPr txBox="1"/>
          <p:nvPr/>
        </p:nvSpPr>
        <p:spPr>
          <a:xfrm>
            <a:off x="2228850" y="2552700"/>
            <a:ext cx="91249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官网 web/（内容 D2C） · 数字工作台 dashboard/ · 方言语音 ASR/TTS · 小程序 / H5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479118B-E99D-4C8F-8164-A6479D331BE6}"/>
              </a:ext>
            </a:extLst>
          </p:cNvPr>
          <p:cNvSpPr txBox="1"/>
          <p:nvPr/>
        </p:nvSpPr>
        <p:spPr>
          <a:xfrm>
            <a:off x="609600" y="3200400"/>
            <a:ext cx="1238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Agent 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66D2C07-7A3D-4960-8464-3E27BE24A8B8}"/>
              </a:ext>
            </a:extLst>
          </p:cNvPr>
          <p:cNvSpPr/>
          <p:nvPr/>
        </p:nvSpPr>
        <p:spPr>
          <a:xfrm>
            <a:off x="2000250" y="3105150"/>
            <a:ext cx="9582150" cy="628650"/>
          </a:xfrm>
          <a:prstGeom prst="roundRect">
            <a:avLst/>
          </a:prstGeom>
          <a:solidFill>
            <a:srgbClr val="2F5D46"/>
          </a:solidFill>
          <a:ln w="12700">
            <a:solidFill>
              <a:srgbClr val="2F5D4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8D0F726-61C9-457C-BD13-3B6A24F7147B}"/>
              </a:ext>
            </a:extLst>
          </p:cNvPr>
          <p:cNvSpPr txBox="1"/>
          <p:nvPr/>
        </p:nvSpPr>
        <p:spPr>
          <a:xfrm>
            <a:off x="2228850" y="3295650"/>
            <a:ext cx="91249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F5F1E6"/>
                </a:solidFill>
                <a:latin typeface="Microsoft YaHei"/>
                <a:ea typeface="Microsoft YaHei"/>
              </a:rPr>
              <a:t>角色 Agent × 5（嵌入工作台） · 职能 Agent × 5（预警/知识/调度/内容/合规） · 契约卡锁定边界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A8617B9-B0E1-44DF-BB24-EEEE86F4CF25}"/>
              </a:ext>
            </a:extLst>
          </p:cNvPr>
          <p:cNvSpPr txBox="1"/>
          <p:nvPr/>
        </p:nvSpPr>
        <p:spPr>
          <a:xfrm>
            <a:off x="609600" y="3943350"/>
            <a:ext cx="1238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编排层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E6436B0-E622-420A-87F6-0F4B3E91BEEB}"/>
              </a:ext>
            </a:extLst>
          </p:cNvPr>
          <p:cNvSpPr/>
          <p:nvPr/>
        </p:nvSpPr>
        <p:spPr>
          <a:xfrm>
            <a:off x="2000250" y="3848100"/>
            <a:ext cx="958215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B08EA82-7257-471B-8963-D9DD55CD8675}"/>
              </a:ext>
            </a:extLst>
          </p:cNvPr>
          <p:cNvSpPr txBox="1"/>
          <p:nvPr/>
        </p:nvSpPr>
        <p:spPr>
          <a:xfrm>
            <a:off x="2228850" y="4038600"/>
            <a:ext cx="91249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长驻 Agent 运行时 · LangGraph 编排器 · 工具网关 · 模型网关 · RAG · 护栏 · 事件总线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2400126-6DFB-4875-8FA1-45C2D8DB956E}"/>
              </a:ext>
            </a:extLst>
          </p:cNvPr>
          <p:cNvSpPr txBox="1"/>
          <p:nvPr/>
        </p:nvSpPr>
        <p:spPr>
          <a:xfrm>
            <a:off x="609600" y="4686300"/>
            <a:ext cx="1238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数据层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6FDB6EE8-8E27-4F71-8B28-E71F2A477D16}"/>
              </a:ext>
            </a:extLst>
          </p:cNvPr>
          <p:cNvSpPr/>
          <p:nvPr/>
        </p:nvSpPr>
        <p:spPr>
          <a:xfrm>
            <a:off x="2000250" y="4591050"/>
            <a:ext cx="958215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9823B1E-2119-4429-9350-5DD9ACF432D3}"/>
              </a:ext>
            </a:extLst>
          </p:cNvPr>
          <p:cNvSpPr txBox="1"/>
          <p:nvPr/>
        </p:nvSpPr>
        <p:spPr>
          <a:xfrm>
            <a:off x="2228850" y="4781550"/>
            <a:ext cx="91249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PostgreSQL 业务真相 · pgvector 知识索引 · 知识库 · 对象存储 · 审计库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2B58942-2FB7-47E6-A79D-5A85D8DBE2AE}"/>
              </a:ext>
            </a:extLst>
          </p:cNvPr>
          <p:cNvSpPr txBox="1"/>
          <p:nvPr/>
        </p:nvSpPr>
        <p:spPr>
          <a:xfrm>
            <a:off x="609600" y="5429250"/>
            <a:ext cx="1238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基础设施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9745B7A-13A9-44EB-BE7A-7566B632BB3D}"/>
              </a:ext>
            </a:extLst>
          </p:cNvPr>
          <p:cNvSpPr/>
          <p:nvPr/>
        </p:nvSpPr>
        <p:spPr>
          <a:xfrm>
            <a:off x="2000250" y="5334000"/>
            <a:ext cx="958215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73B74D2-EC7E-4B5F-B395-97E6240215D0}"/>
              </a:ext>
            </a:extLst>
          </p:cNvPr>
          <p:cNvSpPr txBox="1"/>
          <p:nvPr/>
        </p:nvSpPr>
        <p:spPr>
          <a:xfrm>
            <a:off x="2228850" y="5524500"/>
            <a:ext cx="91249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CloudBase 托管 / 云函数 / 触发器 · CKafka / TDMQ（规模化） · 专用向量库 · 监控告警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9BB0146-F565-48B1-A242-08ED5D71767C}"/>
              </a:ext>
            </a:extLst>
          </p:cNvPr>
          <p:cNvSpPr txBox="1"/>
          <p:nvPr/>
        </p:nvSpPr>
        <p:spPr>
          <a:xfrm>
            <a:off x="609600" y="6172200"/>
            <a:ext cx="10972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原则：业务真相只在 PostgreSQL；知识库与向量索引只做检索；研发知识不进入运行时。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C2DF807-CEF7-4A7F-B920-3D2D62F0384A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Agent 体系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1403B9-D377-4E2C-BF54-D63E5A7BF3F1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5 个角色助手 + 5 个职能 Agent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8ED80B7-E9B7-4B15-94A9-4BA039905CBC}"/>
              </a:ext>
            </a:extLst>
          </p:cNvPr>
          <p:cNvSpPr/>
          <p:nvPr/>
        </p:nvSpPr>
        <p:spPr>
          <a:xfrm>
            <a:off x="609600" y="1714500"/>
            <a:ext cx="5257800" cy="4191000"/>
          </a:xfrm>
          <a:prstGeom prst="roundRect">
            <a:avLst/>
          </a:prstGeom>
          <a:solidFill>
            <a:srgbClr val="2F5D46"/>
          </a:solidFill>
          <a:ln w="12700">
            <a:solidFill>
              <a:srgbClr val="2F5D4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1EF81D5-A308-4C33-B853-61B4EDE5380F}"/>
              </a:ext>
            </a:extLst>
          </p:cNvPr>
          <p:cNvSpPr txBox="1"/>
          <p:nvPr/>
        </p:nvSpPr>
        <p:spPr>
          <a:xfrm>
            <a:off x="914400" y="1981200"/>
            <a:ext cx="46482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5F1E6"/>
                </a:solidFill>
                <a:latin typeface="Microsoft YaHei"/>
                <a:ea typeface="Microsoft YaHei"/>
              </a:rPr>
              <a:t>角色 Agent · 嵌入五个工作台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0F4CCAD-0DFF-4A4F-A085-424F738A726E}"/>
              </a:ext>
            </a:extLst>
          </p:cNvPr>
          <p:cNvSpPr txBox="1"/>
          <p:nvPr/>
        </p:nvSpPr>
        <p:spPr>
          <a:xfrm>
            <a:off x="914400" y="25336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农户助手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8CA6F88-9A53-4F8C-A607-5EF5B087ADFF}"/>
              </a:ext>
            </a:extLst>
          </p:cNvPr>
          <p:cNvSpPr txBox="1"/>
          <p:nvPr/>
        </p:nvSpPr>
        <p:spPr>
          <a:xfrm>
            <a:off x="914400" y="28003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D8DFD6"/>
                </a:solidFill>
                <a:latin typeface="Microsoft YaHei"/>
                <a:ea typeface="Microsoft YaHei"/>
              </a:rPr>
              <a:t>农技问答、病虫害初判、农事记录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080FD92-6B5F-4E4B-A297-63FBBB099570}"/>
              </a:ext>
            </a:extLst>
          </p:cNvPr>
          <p:cNvSpPr txBox="1"/>
          <p:nvPr/>
        </p:nvSpPr>
        <p:spPr>
          <a:xfrm>
            <a:off x="914400" y="31813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入库员助手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71F14D2-B478-4653-B91E-CF346E63FC74}"/>
              </a:ext>
            </a:extLst>
          </p:cNvPr>
          <p:cNvSpPr txBox="1"/>
          <p:nvPr/>
        </p:nvSpPr>
        <p:spPr>
          <a:xfrm>
            <a:off x="914400" y="34480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D8DFD6"/>
                </a:solidFill>
                <a:latin typeface="Microsoft YaHei"/>
                <a:ea typeface="Microsoft YaHei"/>
              </a:rPr>
              <a:t>质检标准、批次登记、发布辅助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D7C20F3-B36F-4ED4-839A-5514FA8427BC}"/>
              </a:ext>
            </a:extLst>
          </p:cNvPr>
          <p:cNvSpPr txBox="1"/>
          <p:nvPr/>
        </p:nvSpPr>
        <p:spPr>
          <a:xfrm>
            <a:off x="914400" y="38290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消费者助手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4E58557-6842-4DDF-B7B7-C6D5405C1CB3}"/>
              </a:ext>
            </a:extLst>
          </p:cNvPr>
          <p:cNvSpPr txBox="1"/>
          <p:nvPr/>
        </p:nvSpPr>
        <p:spPr>
          <a:xfrm>
            <a:off x="914400" y="40957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D8DFD6"/>
                </a:solidFill>
                <a:latin typeface="Microsoft YaHei"/>
                <a:ea typeface="Microsoft YaHei"/>
              </a:rPr>
              <a:t>导购、溯源查询、预约跟踪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16CC20A-FD0F-46CD-A097-5DEB78449FC1}"/>
              </a:ext>
            </a:extLst>
          </p:cNvPr>
          <p:cNvSpPr txBox="1"/>
          <p:nvPr/>
        </p:nvSpPr>
        <p:spPr>
          <a:xfrm>
            <a:off x="914400" y="44767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审计员助手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51F2F0F-DC4A-4AFF-95A4-BBAB7BE6BA14}"/>
              </a:ext>
            </a:extLst>
          </p:cNvPr>
          <p:cNvSpPr txBox="1"/>
          <p:nvPr/>
        </p:nvSpPr>
        <p:spPr>
          <a:xfrm>
            <a:off x="914400" y="47434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D8DFD6"/>
                </a:solidFill>
                <a:latin typeface="Microsoft YaHei"/>
                <a:ea typeface="Microsoft YaHei"/>
              </a:rPr>
              <a:t>异常检测、抽样建议、报告草稿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24EBD74-DF6C-4330-B641-DFCAC5A78B61}"/>
              </a:ext>
            </a:extLst>
          </p:cNvPr>
          <p:cNvSpPr txBox="1"/>
          <p:nvPr/>
        </p:nvSpPr>
        <p:spPr>
          <a:xfrm>
            <a:off x="914400" y="51244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管理员助手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D17D9B1-77EC-43E9-A42A-90A133A34345}"/>
              </a:ext>
            </a:extLst>
          </p:cNvPr>
          <p:cNvSpPr txBox="1"/>
          <p:nvPr/>
        </p:nvSpPr>
        <p:spPr>
          <a:xfrm>
            <a:off x="914400" y="53911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D8DFD6"/>
                </a:solidFill>
                <a:latin typeface="Microsoft YaHei"/>
                <a:ea typeface="Microsoft YaHei"/>
              </a:rPr>
              <a:t>授权建议、系统健康、运营分析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E9687CF5-D2ED-40D0-B177-8C6D8F794F91}"/>
              </a:ext>
            </a:extLst>
          </p:cNvPr>
          <p:cNvSpPr/>
          <p:nvPr/>
        </p:nvSpPr>
        <p:spPr>
          <a:xfrm>
            <a:off x="6324600" y="1714500"/>
            <a:ext cx="52578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18AC02A-1BC1-4FDC-887E-42D59B2D55C8}"/>
              </a:ext>
            </a:extLst>
          </p:cNvPr>
          <p:cNvSpPr txBox="1"/>
          <p:nvPr/>
        </p:nvSpPr>
        <p:spPr>
          <a:xfrm>
            <a:off x="6629400" y="1981200"/>
            <a:ext cx="46482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F5D46"/>
                </a:solidFill>
                <a:latin typeface="Microsoft YaHei"/>
                <a:ea typeface="Microsoft YaHei"/>
              </a:rPr>
              <a:t>职能 Agent · 跨角色后台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3E11DF7-CD70-49CB-8A73-4EE597DAE7AD}"/>
              </a:ext>
            </a:extLst>
          </p:cNvPr>
          <p:cNvSpPr txBox="1"/>
          <p:nvPr/>
        </p:nvSpPr>
        <p:spPr>
          <a:xfrm>
            <a:off x="6629400" y="25336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预警哨兵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611A4AD-0AB2-45B8-A896-013E45DCCF21}"/>
              </a:ext>
            </a:extLst>
          </p:cNvPr>
          <p:cNvSpPr txBox="1"/>
          <p:nvPr/>
        </p:nvSpPr>
        <p:spPr>
          <a:xfrm>
            <a:off x="6629400" y="28003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病虫害、气象、价格、异常交易监测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EA4BF01-66A1-4D5E-94AA-27872FE9E343}"/>
              </a:ext>
            </a:extLst>
          </p:cNvPr>
          <p:cNvSpPr txBox="1"/>
          <p:nvPr/>
        </p:nvSpPr>
        <p:spPr>
          <a:xfrm>
            <a:off x="6629400" y="31813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知识管家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FD43F65-6E6C-4A02-8DA5-D5E57146FC0D}"/>
              </a:ext>
            </a:extLst>
          </p:cNvPr>
          <p:cNvSpPr txBox="1"/>
          <p:nvPr/>
        </p:nvSpPr>
        <p:spPr>
          <a:xfrm>
            <a:off x="6629400" y="34480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知识采集、去重、版本与失效检测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ED0EEC4-AC0C-4656-9B6A-8BCC83F35D61}"/>
              </a:ext>
            </a:extLst>
          </p:cNvPr>
          <p:cNvSpPr txBox="1"/>
          <p:nvPr/>
        </p:nvSpPr>
        <p:spPr>
          <a:xfrm>
            <a:off x="6629400" y="38290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调度员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4FAFAA8-9A93-4D17-A3BF-AEFE75EED6AD}"/>
              </a:ext>
            </a:extLst>
          </p:cNvPr>
          <p:cNvSpPr txBox="1"/>
          <p:nvPr/>
        </p:nvSpPr>
        <p:spPr>
          <a:xfrm>
            <a:off x="6629400" y="40957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订单与服务工单的资源匹配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A1F4B49-EBF5-42CD-A963-96F2CA309CB9}"/>
              </a:ext>
            </a:extLst>
          </p:cNvPr>
          <p:cNvSpPr txBox="1"/>
          <p:nvPr/>
        </p:nvSpPr>
        <p:spPr>
          <a:xfrm>
            <a:off x="6629400" y="44767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内容编辑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958582D-0492-49FF-B934-D1DDE27EC3B1}"/>
              </a:ext>
            </a:extLst>
          </p:cNvPr>
          <p:cNvSpPr txBox="1"/>
          <p:nvPr/>
        </p:nvSpPr>
        <p:spPr>
          <a:xfrm>
            <a:off x="6629400" y="47434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官网与短视频文案、合规检查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B698FBA-D522-4BFA-AB66-3571244D5B29}"/>
              </a:ext>
            </a:extLst>
          </p:cNvPr>
          <p:cNvSpPr txBox="1"/>
          <p:nvPr/>
        </p:nvSpPr>
        <p:spPr>
          <a:xfrm>
            <a:off x="6629400" y="51244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合规审查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7534105-ABC5-429D-9697-3193FF4712E7}"/>
              </a:ext>
            </a:extLst>
          </p:cNvPr>
          <p:cNvSpPr txBox="1"/>
          <p:nvPr/>
        </p:nvSpPr>
        <p:spPr>
          <a:xfrm>
            <a:off x="6629400" y="53911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对外输出审核与隐私检测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0832E29-53C6-4FEA-B854-A613C2A4D7F3}"/>
              </a:ext>
            </a:extLst>
          </p:cNvPr>
          <p:cNvSpPr txBox="1"/>
          <p:nvPr/>
        </p:nvSpPr>
        <p:spPr>
          <a:xfrm>
            <a:off x="609600" y="6191250"/>
            <a:ext cx="10972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协作方式：Agent 之间不直接互调，统一通过事件总线；低置信度按契约升级给人。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B24F3BF-A020-4822-89BC-B513ED05A440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Agent 契约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EB41BA-E97E-4163-BA8B-FD60B6C075C4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边界先于智能：六要素契约卡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698B115-8548-40BE-BB62-91C2A37F7EFD}"/>
              </a:ext>
            </a:extLst>
          </p:cNvPr>
          <p:cNvSpPr/>
          <p:nvPr/>
        </p:nvSpPr>
        <p:spPr>
          <a:xfrm>
            <a:off x="609600" y="1666875"/>
            <a:ext cx="35052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B91323F-A005-43F2-8940-F43ED6A6E4FC}"/>
              </a:ext>
            </a:extLst>
          </p:cNvPr>
          <p:cNvSpPr txBox="1"/>
          <p:nvPr/>
        </p:nvSpPr>
        <p:spPr>
          <a:xfrm>
            <a:off x="876300" y="1876425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F399245-B813-4054-9560-4D1A74AFC6BD}"/>
              </a:ext>
            </a:extLst>
          </p:cNvPr>
          <p:cNvSpPr txBox="1"/>
          <p:nvPr/>
        </p:nvSpPr>
        <p:spPr>
          <a:xfrm>
            <a:off x="876300" y="210502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数据范围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DD1BDA2-CE90-4921-91AF-20A546E7D35E}"/>
              </a:ext>
            </a:extLst>
          </p:cNvPr>
          <p:cNvSpPr txBox="1"/>
          <p:nvPr/>
        </p:nvSpPr>
        <p:spPr>
          <a:xfrm>
            <a:off x="876300" y="249555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表、字段、行级过滤与知识域标签，只给完成任务所需的数据。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6B66945-A5C8-4AE1-AC34-6A1ABB5E84F3}"/>
              </a:ext>
            </a:extLst>
          </p:cNvPr>
          <p:cNvSpPr/>
          <p:nvPr/>
        </p:nvSpPr>
        <p:spPr>
          <a:xfrm>
            <a:off x="4343400" y="1666875"/>
            <a:ext cx="35052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995ACBE-5CA6-4254-A222-D75713BDAAF9}"/>
              </a:ext>
            </a:extLst>
          </p:cNvPr>
          <p:cNvSpPr txBox="1"/>
          <p:nvPr/>
        </p:nvSpPr>
        <p:spPr>
          <a:xfrm>
            <a:off x="4610100" y="1876425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D288A96-D3EB-462F-8D9B-AAF0BD55B473}"/>
              </a:ext>
            </a:extLst>
          </p:cNvPr>
          <p:cNvSpPr txBox="1"/>
          <p:nvPr/>
        </p:nvSpPr>
        <p:spPr>
          <a:xfrm>
            <a:off x="4610100" y="210502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接口范围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B84043C-B6F2-4935-BA4E-CD8E816139E8}"/>
              </a:ext>
            </a:extLst>
          </p:cNvPr>
          <p:cNvSpPr txBox="1"/>
          <p:nvPr/>
        </p:nvSpPr>
        <p:spPr>
          <a:xfrm>
            <a:off x="4610100" y="249555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工具白名单 + 参数校验 + 速率与额度限制，写操作分级。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D20B316-0B25-45C3-8286-E94BC2AB580A}"/>
              </a:ext>
            </a:extLst>
          </p:cNvPr>
          <p:cNvSpPr/>
          <p:nvPr/>
        </p:nvSpPr>
        <p:spPr>
          <a:xfrm>
            <a:off x="8077200" y="1666875"/>
            <a:ext cx="35052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9732471-E6FB-4217-AC26-054C8B2BAFC5}"/>
              </a:ext>
            </a:extLst>
          </p:cNvPr>
          <p:cNvSpPr txBox="1"/>
          <p:nvPr/>
        </p:nvSpPr>
        <p:spPr>
          <a:xfrm>
            <a:off x="8343900" y="1876425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0482E2C-3E1D-451A-81EA-2F84CCA705CD}"/>
              </a:ext>
            </a:extLst>
          </p:cNvPr>
          <p:cNvSpPr txBox="1"/>
          <p:nvPr/>
        </p:nvSpPr>
        <p:spPr>
          <a:xfrm>
            <a:off x="8343900" y="210502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业务范围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0963B70-8FED-4462-895B-5F7ACB8DB042}"/>
              </a:ext>
            </a:extLst>
          </p:cNvPr>
          <p:cNvSpPr txBox="1"/>
          <p:nvPr/>
        </p:nvSpPr>
        <p:spPr>
          <a:xfrm>
            <a:off x="8343900" y="249555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允许动作、禁止动作、升级条件，全部写进契约。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6BB377DC-46FE-4DED-BA8F-0E88A6030793}"/>
              </a:ext>
            </a:extLst>
          </p:cNvPr>
          <p:cNvSpPr/>
          <p:nvPr/>
        </p:nvSpPr>
        <p:spPr>
          <a:xfrm>
            <a:off x="609600" y="3476625"/>
            <a:ext cx="35052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0159617-3C81-488E-8B89-4B668848912B}"/>
              </a:ext>
            </a:extLst>
          </p:cNvPr>
          <p:cNvSpPr txBox="1"/>
          <p:nvPr/>
        </p:nvSpPr>
        <p:spPr>
          <a:xfrm>
            <a:off x="876300" y="3686175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3C6B0DF-2C68-4030-9ABC-CABBF82D777D}"/>
              </a:ext>
            </a:extLst>
          </p:cNvPr>
          <p:cNvSpPr txBox="1"/>
          <p:nvPr/>
        </p:nvSpPr>
        <p:spPr>
          <a:xfrm>
            <a:off x="876300" y="391477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任务监测点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6082A95-FEC3-4311-8B9E-91AEC26FA2B2}"/>
              </a:ext>
            </a:extLst>
          </p:cNvPr>
          <p:cNvSpPr txBox="1"/>
          <p:nvPr/>
        </p:nvSpPr>
        <p:spPr>
          <a:xfrm>
            <a:off x="876300" y="430530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接收、规划、调用、升级、交付全链路留痕，阈值告警。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6EDA276E-5B10-43B2-9F2F-C75E676C2283}"/>
              </a:ext>
            </a:extLst>
          </p:cNvPr>
          <p:cNvSpPr/>
          <p:nvPr/>
        </p:nvSpPr>
        <p:spPr>
          <a:xfrm>
            <a:off x="4343400" y="3476625"/>
            <a:ext cx="35052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75C7CB1-E7C9-405D-863B-89847722B089}"/>
              </a:ext>
            </a:extLst>
          </p:cNvPr>
          <p:cNvSpPr txBox="1"/>
          <p:nvPr/>
        </p:nvSpPr>
        <p:spPr>
          <a:xfrm>
            <a:off x="4610100" y="3686175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FF438FE-87B3-4DCC-B97E-94D34004108B}"/>
              </a:ext>
            </a:extLst>
          </p:cNvPr>
          <p:cNvSpPr txBox="1"/>
          <p:nvPr/>
        </p:nvSpPr>
        <p:spPr>
          <a:xfrm>
            <a:off x="4610100" y="391477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处理流程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E6A2147-B9E9-4CE6-A4B8-B55102336D85}"/>
              </a:ext>
            </a:extLst>
          </p:cNvPr>
          <p:cNvSpPr txBox="1"/>
          <p:nvPr/>
        </p:nvSpPr>
        <p:spPr>
          <a:xfrm>
            <a:off x="4610100" y="430530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显式状态机，非法跃迁直接拒绝，任务可回放。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3B3603B7-4EF3-459F-AD1C-DE97F0BBAF68}"/>
              </a:ext>
            </a:extLst>
          </p:cNvPr>
          <p:cNvSpPr/>
          <p:nvPr/>
        </p:nvSpPr>
        <p:spPr>
          <a:xfrm>
            <a:off x="8077200" y="3476625"/>
            <a:ext cx="35052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AD9AB05-BAC5-4E32-AF52-A4350BE24E8C}"/>
              </a:ext>
            </a:extLst>
          </p:cNvPr>
          <p:cNvSpPr txBox="1"/>
          <p:nvPr/>
        </p:nvSpPr>
        <p:spPr>
          <a:xfrm>
            <a:off x="8343900" y="3686175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06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58637D3-B58D-4AC0-BA70-EDD82AAD4D34}"/>
              </a:ext>
            </a:extLst>
          </p:cNvPr>
          <p:cNvSpPr txBox="1"/>
          <p:nvPr/>
        </p:nvSpPr>
        <p:spPr>
          <a:xfrm>
            <a:off x="8343900" y="391477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自治等级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62085DA-F2AA-45E1-B89E-346CDF7B7BC9}"/>
              </a:ext>
            </a:extLst>
          </p:cNvPr>
          <p:cNvSpPr txBox="1"/>
          <p:nvPr/>
        </p:nvSpPr>
        <p:spPr>
          <a:xfrm>
            <a:off x="8343900" y="430530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L1 辅助 → L2 建议 → L3 低风险自动 → L4 受控自治。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813326F-7B02-4499-892B-2DAA69970B8B}"/>
              </a:ext>
            </a:extLst>
          </p:cNvPr>
          <p:cNvSpPr txBox="1"/>
          <p:nvPr/>
        </p:nvSpPr>
        <p:spPr>
          <a:xfrm>
            <a:off x="609600" y="5581650"/>
            <a:ext cx="109728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B8860B"/>
                </a:solidFill>
                <a:latin typeface="Microsoft YaHei"/>
                <a:ea typeface="Microsoft YaHei"/>
              </a:rPr>
              <a:t>Agent 权限 = 人类角色权限 ∩ 契约卡范围，永远取交集、不放大。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FCA4973-E6A9-4174-9FFA-79BF57C6C346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场景选择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24D4708-0DDE-4128-8ADF-FDBECD57BA69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场景优先级：先打四个能站住的点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5F52B9A-6156-418F-98D8-6E8230A6C923}"/>
              </a:ext>
            </a:extLst>
          </p:cNvPr>
          <p:cNvSpPr/>
          <p:nvPr/>
        </p:nvSpPr>
        <p:spPr>
          <a:xfrm>
            <a:off x="609600" y="1666875"/>
            <a:ext cx="3505200" cy="4095750"/>
          </a:xfrm>
          <a:prstGeom prst="roundRect">
            <a:avLst/>
          </a:prstGeom>
          <a:solidFill>
            <a:srgbClr val="2F5D46"/>
          </a:solidFill>
          <a:ln w="12700">
            <a:solidFill>
              <a:srgbClr val="2F5D4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63CFC10-F81B-4CEE-BE9D-F5FCEF10872D}"/>
              </a:ext>
            </a:extLst>
          </p:cNvPr>
          <p:cNvSpPr txBox="1"/>
          <p:nvPr/>
        </p:nvSpPr>
        <p:spPr>
          <a:xfrm>
            <a:off x="876300" y="1933575"/>
            <a:ext cx="29718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5F1E6"/>
                </a:solidFill>
                <a:latin typeface="Microsoft YaHei"/>
                <a:ea typeface="Microsoft YaHei"/>
              </a:rPr>
              <a:t>P0 · 0—6 个月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66AC340-F7A7-4305-AFA9-7B46DB2230F3}"/>
              </a:ext>
            </a:extLst>
          </p:cNvPr>
          <p:cNvSpPr txBox="1"/>
          <p:nvPr/>
        </p:nvSpPr>
        <p:spPr>
          <a:xfrm>
            <a:off x="876300" y="2428875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方言语音农技问答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DF022C9-B895-4F39-B3C0-74B7F5102125}"/>
              </a:ext>
            </a:extLst>
          </p:cNvPr>
          <p:cNvSpPr txBox="1"/>
          <p:nvPr/>
        </p:nvSpPr>
        <p:spPr>
          <a:xfrm>
            <a:off x="876300" y="2695575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D8DFD6"/>
                </a:solidFill>
                <a:latin typeface="Microsoft YaHei"/>
                <a:ea typeface="Microsoft YaHei"/>
              </a:rPr>
              <a:t>RAG + 引用，老人可用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1C9267-F2FB-4D59-A3A1-418015835F36}"/>
              </a:ext>
            </a:extLst>
          </p:cNvPr>
          <p:cNvSpPr txBox="1"/>
          <p:nvPr/>
        </p:nvSpPr>
        <p:spPr>
          <a:xfrm>
            <a:off x="876300" y="3238500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病虫害拍照识别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DA16589-9501-4309-AD0F-A77F672003BE}"/>
              </a:ext>
            </a:extLst>
          </p:cNvPr>
          <p:cNvSpPr txBox="1"/>
          <p:nvPr/>
        </p:nvSpPr>
        <p:spPr>
          <a:xfrm>
            <a:off x="876300" y="3505200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D8DFD6"/>
                </a:solidFill>
                <a:latin typeface="Microsoft YaHei"/>
                <a:ea typeface="Microsoft YaHei"/>
              </a:rPr>
              <a:t>Top-3 召回 ≥85%，专家复核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24351FC-FD09-46A1-B39B-2803C1FB5E6A}"/>
              </a:ext>
            </a:extLst>
          </p:cNvPr>
          <p:cNvSpPr txBox="1"/>
          <p:nvPr/>
        </p:nvSpPr>
        <p:spPr>
          <a:xfrm>
            <a:off x="876300" y="4048125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入库质检助手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F2B546E-6A0E-41BB-8976-BC8971CF6AFC}"/>
              </a:ext>
            </a:extLst>
          </p:cNvPr>
          <p:cNvSpPr txBox="1"/>
          <p:nvPr/>
        </p:nvSpPr>
        <p:spPr>
          <a:xfrm>
            <a:off x="876300" y="4314825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D8DFD6"/>
                </a:solidFill>
                <a:latin typeface="Microsoft YaHei"/>
                <a:ea typeface="Microsoft YaHei"/>
              </a:rPr>
              <a:t>拍照 + 标准知识库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3FA4AA1-4899-4D47-9341-2AF4C72AACA5}"/>
              </a:ext>
            </a:extLst>
          </p:cNvPr>
          <p:cNvSpPr txBox="1"/>
          <p:nvPr/>
        </p:nvSpPr>
        <p:spPr>
          <a:xfrm>
            <a:off x="876300" y="4857750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官网内容助手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C3426D9-92A8-4609-B4B4-B85B35A6F624}"/>
              </a:ext>
            </a:extLst>
          </p:cNvPr>
          <p:cNvSpPr txBox="1"/>
          <p:nvPr/>
        </p:nvSpPr>
        <p:spPr>
          <a:xfrm>
            <a:off x="876300" y="5124450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D8DFD6"/>
                </a:solidFill>
                <a:latin typeface="Microsoft YaHei"/>
                <a:ea typeface="Microsoft YaHei"/>
              </a:rPr>
              <a:t>故事 → 文案 → 草稿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3DD17B9-2993-4EAB-9EF4-FDC2E5597543}"/>
              </a:ext>
            </a:extLst>
          </p:cNvPr>
          <p:cNvSpPr/>
          <p:nvPr/>
        </p:nvSpPr>
        <p:spPr>
          <a:xfrm>
            <a:off x="4343400" y="1666875"/>
            <a:ext cx="3505200" cy="4095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63DAB63-0FB3-49E7-9BC8-8B27BB8B5E9C}"/>
              </a:ext>
            </a:extLst>
          </p:cNvPr>
          <p:cNvSpPr txBox="1"/>
          <p:nvPr/>
        </p:nvSpPr>
        <p:spPr>
          <a:xfrm>
            <a:off x="4610100" y="1933575"/>
            <a:ext cx="29718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5D46"/>
                </a:solidFill>
                <a:latin typeface="Microsoft YaHei"/>
                <a:ea typeface="Microsoft YaHei"/>
              </a:rPr>
              <a:t>P1 · 6—18 个月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EFF2424-7437-4E0C-9094-DAD1C181B55D}"/>
              </a:ext>
            </a:extLst>
          </p:cNvPr>
          <p:cNvSpPr txBox="1"/>
          <p:nvPr/>
        </p:nvSpPr>
        <p:spPr>
          <a:xfrm>
            <a:off x="4610100" y="2428875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溯源链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A3D0E98-7D0C-42DE-B75C-DC0F92AC025B}"/>
              </a:ext>
            </a:extLst>
          </p:cNvPr>
          <p:cNvSpPr txBox="1"/>
          <p:nvPr/>
        </p:nvSpPr>
        <p:spPr>
          <a:xfrm>
            <a:off x="4610100" y="2695575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地块、批次、检测可查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D858565-9E01-4EE8-8412-4748641D7823}"/>
              </a:ext>
            </a:extLst>
          </p:cNvPr>
          <p:cNvSpPr txBox="1"/>
          <p:nvPr/>
        </p:nvSpPr>
        <p:spPr>
          <a:xfrm>
            <a:off x="4610100" y="3238500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预警哨兵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EEEDFD8-4C67-4929-985A-5CD477B758C0}"/>
              </a:ext>
            </a:extLst>
          </p:cNvPr>
          <p:cNvSpPr txBox="1"/>
          <p:nvPr/>
        </p:nvSpPr>
        <p:spPr>
          <a:xfrm>
            <a:off x="4610100" y="3505200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四类预警与处置闭环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9E5A21C-93EC-4E4A-85FC-CA9E2C7A1D94}"/>
              </a:ext>
            </a:extLst>
          </p:cNvPr>
          <p:cNvSpPr txBox="1"/>
          <p:nvPr/>
        </p:nvSpPr>
        <p:spPr>
          <a:xfrm>
            <a:off x="4610100" y="4048125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订单与服务调度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65DEEB8-E793-4D42-8001-5674E7CCEED8}"/>
              </a:ext>
            </a:extLst>
          </p:cNvPr>
          <p:cNvSpPr txBox="1"/>
          <p:nvPr/>
        </p:nvSpPr>
        <p:spPr>
          <a:xfrm>
            <a:off x="4610100" y="4314825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预约、派单、跟踪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B7FE28B-8564-46A6-AB3F-7A4022B23BD3}"/>
              </a:ext>
            </a:extLst>
          </p:cNvPr>
          <p:cNvSpPr txBox="1"/>
          <p:nvPr/>
        </p:nvSpPr>
        <p:spPr>
          <a:xfrm>
            <a:off x="4610100" y="4857750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审计助手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63CE31A-DD6F-4D91-966C-BCCF90A465E6}"/>
              </a:ext>
            </a:extLst>
          </p:cNvPr>
          <p:cNvSpPr txBox="1"/>
          <p:nvPr/>
        </p:nvSpPr>
        <p:spPr>
          <a:xfrm>
            <a:off x="4610100" y="5124450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异常检测、抽样、报告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779EB3FF-1418-4449-BDB4-83D2A1562CBA}"/>
              </a:ext>
            </a:extLst>
          </p:cNvPr>
          <p:cNvSpPr/>
          <p:nvPr/>
        </p:nvSpPr>
        <p:spPr>
          <a:xfrm>
            <a:off x="8077200" y="1666875"/>
            <a:ext cx="3505200" cy="4095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4677917-F1B8-4EB8-9E5E-150862246AA2}"/>
              </a:ext>
            </a:extLst>
          </p:cNvPr>
          <p:cNvSpPr txBox="1"/>
          <p:nvPr/>
        </p:nvSpPr>
        <p:spPr>
          <a:xfrm>
            <a:off x="8343900" y="1933575"/>
            <a:ext cx="29718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B8860B"/>
                </a:solidFill>
                <a:latin typeface="Microsoft YaHei"/>
                <a:ea typeface="Microsoft YaHei"/>
              </a:rPr>
              <a:t>P2 · 18—36 个月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9EECD64-1DCD-4017-887C-449D93052988}"/>
              </a:ext>
            </a:extLst>
          </p:cNvPr>
          <p:cNvSpPr txBox="1"/>
          <p:nvPr/>
        </p:nvSpPr>
        <p:spPr>
          <a:xfrm>
            <a:off x="8343900" y="2428875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交易撮合与定价建议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401AEE7-4EA4-49D5-9ADE-5BEBD88B9FEF}"/>
              </a:ext>
            </a:extLst>
          </p:cNvPr>
          <p:cNvSpPr txBox="1"/>
          <p:nvPr/>
        </p:nvSpPr>
        <p:spPr>
          <a:xfrm>
            <a:off x="8343900" y="2695575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对接县域市场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67B121C-669C-410E-A425-C995F4B3E012}"/>
              </a:ext>
            </a:extLst>
          </p:cNvPr>
          <p:cNvSpPr txBox="1"/>
          <p:nvPr/>
        </p:nvSpPr>
        <p:spPr>
          <a:xfrm>
            <a:off x="8343900" y="3238500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文化资源数字馆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1F66F23D-088E-4950-ADA2-17AD0D265D31}"/>
              </a:ext>
            </a:extLst>
          </p:cNvPr>
          <p:cNvSpPr txBox="1"/>
          <p:nvPr/>
        </p:nvSpPr>
        <p:spPr>
          <a:xfrm>
            <a:off x="8343900" y="3505200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村史、非遗、语音导览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DAE83A1-BC9E-4167-9493-20E22DAF2410}"/>
              </a:ext>
            </a:extLst>
          </p:cNvPr>
          <p:cNvSpPr txBox="1"/>
          <p:nvPr/>
        </p:nvSpPr>
        <p:spPr>
          <a:xfrm>
            <a:off x="8343900" y="4048125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跨村复制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A03A855-B7E8-4482-9138-14BEC7F60E32}"/>
              </a:ext>
            </a:extLst>
          </p:cNvPr>
          <p:cNvSpPr txBox="1"/>
          <p:nvPr/>
        </p:nvSpPr>
        <p:spPr>
          <a:xfrm>
            <a:off x="8343900" y="4314825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多租户与标准化输出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C38A9B4B-C761-4E13-B2B2-3A99E1D36D16}"/>
              </a:ext>
            </a:extLst>
          </p:cNvPr>
          <p:cNvSpPr txBox="1"/>
          <p:nvPr/>
        </p:nvSpPr>
        <p:spPr>
          <a:xfrm>
            <a:off x="609600" y="6076950"/>
            <a:ext cx="109728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评估口径：业务价值 × 技术可行性 × 数据就绪度 × 风险；P0 必须可演示、可验收。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3D1EAF6-E50D-4C59-8EFC-E2744CA5CB0B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路线图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D54730E-4C05-410B-9865-EA7EF941EC91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三个阶段：能力、业务、治理一起走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3826CD7-53D5-4012-BCC4-093CA3C6DB07}"/>
              </a:ext>
            </a:extLst>
          </p:cNvPr>
          <p:cNvSpPr/>
          <p:nvPr/>
        </p:nvSpPr>
        <p:spPr>
          <a:xfrm>
            <a:off x="914400" y="2952750"/>
            <a:ext cx="10363200" cy="19050"/>
          </a:xfrm>
          <a:prstGeom prst="rect">
            <a:avLst/>
          </a:prstGeom>
          <a:solidFill>
            <a:srgbClr val="D8CBB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BC1307A-F441-42A3-B560-37B5C4FA93FD}"/>
              </a:ext>
            </a:extLst>
          </p:cNvPr>
          <p:cNvSpPr/>
          <p:nvPr/>
        </p:nvSpPr>
        <p:spPr>
          <a:xfrm>
            <a:off x="2124075" y="2847975"/>
            <a:ext cx="209550" cy="209550"/>
          </a:xfrm>
          <a:prstGeom prst="ellipse">
            <a:avLst/>
          </a:prstGeom>
          <a:solidFill>
            <a:srgbClr val="2F5D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B1621D2-3397-4360-999B-4FBBD328472E}"/>
              </a:ext>
            </a:extLst>
          </p:cNvPr>
          <p:cNvSpPr/>
          <p:nvPr/>
        </p:nvSpPr>
        <p:spPr>
          <a:xfrm>
            <a:off x="5934075" y="2847975"/>
            <a:ext cx="209550" cy="209550"/>
          </a:xfrm>
          <a:prstGeom prst="ellipse">
            <a:avLst/>
          </a:prstGeom>
          <a:solidFill>
            <a:srgbClr val="2F5D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98538C9-4882-486F-83C3-C7BE1D23B339}"/>
              </a:ext>
            </a:extLst>
          </p:cNvPr>
          <p:cNvSpPr/>
          <p:nvPr/>
        </p:nvSpPr>
        <p:spPr>
          <a:xfrm>
            <a:off x="9744075" y="2847975"/>
            <a:ext cx="209550" cy="209550"/>
          </a:xfrm>
          <a:prstGeom prst="ellipse">
            <a:avLst/>
          </a:prstGeom>
          <a:solidFill>
            <a:srgbClr val="B8860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28438A5-7295-4EF5-A746-F7F1ACCAEE2F}"/>
              </a:ext>
            </a:extLst>
          </p:cNvPr>
          <p:cNvSpPr txBox="1"/>
          <p:nvPr/>
        </p:nvSpPr>
        <p:spPr>
          <a:xfrm>
            <a:off x="1143000" y="1981200"/>
            <a:ext cx="2857500" cy="4023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6302A"/>
                </a:solidFill>
                <a:latin typeface="Microsoft YaHei"/>
                <a:ea typeface="Microsoft YaHei"/>
              </a:rPr>
              <a:t>P1 打底座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AD5EAA8-9FE7-4200-8DD2-ED2F66C7E5EE}"/>
              </a:ext>
            </a:extLst>
          </p:cNvPr>
          <p:cNvSpPr txBox="1"/>
          <p:nvPr/>
        </p:nvSpPr>
        <p:spPr>
          <a:xfrm>
            <a:off x="1143000" y="236220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0—6 个月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59B8425-BB7B-4D0D-8EB2-AF813C68B440}"/>
              </a:ext>
            </a:extLst>
          </p:cNvPr>
          <p:cNvSpPr txBox="1"/>
          <p:nvPr/>
        </p:nvSpPr>
        <p:spPr>
          <a:xfrm>
            <a:off x="4953000" y="1981200"/>
            <a:ext cx="2857500" cy="4023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6302A"/>
                </a:solidFill>
                <a:latin typeface="Microsoft YaHei"/>
                <a:ea typeface="Microsoft YaHei"/>
              </a:rPr>
              <a:t>P2 流程化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79B7062-8E60-4FE7-8549-1661677F42D7}"/>
              </a:ext>
            </a:extLst>
          </p:cNvPr>
          <p:cNvSpPr txBox="1"/>
          <p:nvPr/>
        </p:nvSpPr>
        <p:spPr>
          <a:xfrm>
            <a:off x="4953000" y="236220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6—18 个月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E97B670-DFA5-43A8-AAD7-CE1E5FA9F3AE}"/>
              </a:ext>
            </a:extLst>
          </p:cNvPr>
          <p:cNvSpPr txBox="1"/>
          <p:nvPr/>
        </p:nvSpPr>
        <p:spPr>
          <a:xfrm>
            <a:off x="8763000" y="1981200"/>
            <a:ext cx="2857500" cy="4023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6302A"/>
                </a:solidFill>
                <a:latin typeface="Microsoft YaHei"/>
                <a:ea typeface="Microsoft YaHei"/>
              </a:rPr>
              <a:t>P3 自治化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C833D84-B1D1-40D9-A91F-37C7E56BDC10}"/>
              </a:ext>
            </a:extLst>
          </p:cNvPr>
          <p:cNvSpPr txBox="1"/>
          <p:nvPr/>
        </p:nvSpPr>
        <p:spPr>
          <a:xfrm>
            <a:off x="8763000" y="236220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B8860B"/>
                </a:solidFill>
                <a:latin typeface="Microsoft YaHei"/>
                <a:ea typeface="Microsoft YaHei"/>
              </a:rPr>
              <a:t>18—36 个月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B68C574-FADC-41E7-BDBF-1F7AF6A036FA}"/>
              </a:ext>
            </a:extLst>
          </p:cNvPr>
          <p:cNvSpPr txBox="1"/>
          <p:nvPr/>
        </p:nvSpPr>
        <p:spPr>
          <a:xfrm>
            <a:off x="1143000" y="3333750"/>
            <a:ext cx="28575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数据/契约/语音 MVP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单村单品类跑通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贡献毛利基线可见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0AF2F2C-AB65-470F-BD3F-CF4BE6E32200}"/>
              </a:ext>
            </a:extLst>
          </p:cNvPr>
          <p:cNvSpPr txBox="1"/>
          <p:nvPr/>
        </p:nvSpPr>
        <p:spPr>
          <a:xfrm>
            <a:off x="4953000" y="3333750"/>
            <a:ext cx="28575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事件/溯源/五角色嵌入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复制村单位经济为正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治理与审计可独立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57C5626-92D2-44D5-8E08-2AC7B5E847EC}"/>
              </a:ext>
            </a:extLst>
          </p:cNvPr>
          <p:cNvSpPr txBox="1"/>
          <p:nvPr/>
        </p:nvSpPr>
        <p:spPr>
          <a:xfrm>
            <a:off x="8763000" y="3333750"/>
            <a:ext cx="28575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多 Agent/交易/文化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不靠补贴可持续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压力测试与接班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B143B6C-54B1-4866-B480-4CD90943C0E3}"/>
              </a:ext>
            </a:extLst>
          </p:cNvPr>
          <p:cNvSpPr txBox="1"/>
          <p:nvPr/>
        </p:nvSpPr>
        <p:spPr>
          <a:xfrm>
            <a:off x="609600" y="5753100"/>
            <a:ext cx="109728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放行规则：技术指标 + 业务/战略门禁同时达标；不达标先补数据与单位经济，不加新功能。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A529E39-8B72-4208-BE52-C7E1F898F10A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启动计划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DA8127F-3E1C-45D2-B475-63F5E27B1F65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90 天：把蓝图变成可验收的动作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4EA0C68-E261-4A5B-8AD6-46B471044660}"/>
              </a:ext>
            </a:extLst>
          </p:cNvPr>
          <p:cNvSpPr/>
          <p:nvPr/>
        </p:nvSpPr>
        <p:spPr>
          <a:xfrm>
            <a:off x="609600" y="1666875"/>
            <a:ext cx="35052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82E4FBF-AD34-44DC-BA7A-A26AA18FED44}"/>
              </a:ext>
            </a:extLst>
          </p:cNvPr>
          <p:cNvSpPr txBox="1"/>
          <p:nvPr/>
        </p:nvSpPr>
        <p:spPr>
          <a:xfrm>
            <a:off x="876300" y="1933575"/>
            <a:ext cx="2971800" cy="6705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B8860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DDF259B-1976-491F-A627-BF9D13F21A62}"/>
              </a:ext>
            </a:extLst>
          </p:cNvPr>
          <p:cNvSpPr txBox="1"/>
          <p:nvPr/>
        </p:nvSpPr>
        <p:spPr>
          <a:xfrm>
            <a:off x="876300" y="261937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战略与数据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808CBB8-AD67-404B-BEDB-F6A039A7EB28}"/>
              </a:ext>
            </a:extLst>
          </p:cNvPr>
          <p:cNvSpPr txBox="1"/>
          <p:nvPr/>
        </p:nvSpPr>
        <p:spPr>
          <a:xfrm>
            <a:off x="876300" y="2943225"/>
            <a:ext cx="2971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周 1—6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57B8B4E-F061-43C3-8706-2CBE77C34EE7}"/>
              </a:ext>
            </a:extLst>
          </p:cNvPr>
          <p:cNvSpPr txBox="1"/>
          <p:nvPr/>
        </p:nvSpPr>
        <p:spPr>
          <a:xfrm>
            <a:off x="876300" y="3324225"/>
            <a:ext cx="29718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战略基线 + 数据字典 v1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农户自助提交 MVP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知识条目 200+ 首批入库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6F2F0F8-9BA0-4572-A470-776F1FA6E3F7}"/>
              </a:ext>
            </a:extLst>
          </p:cNvPr>
          <p:cNvSpPr/>
          <p:nvPr/>
        </p:nvSpPr>
        <p:spPr>
          <a:xfrm>
            <a:off x="4343400" y="1666875"/>
            <a:ext cx="35052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B45FE25-0DC8-4642-8165-7E20CF56C7F9}"/>
              </a:ext>
            </a:extLst>
          </p:cNvPr>
          <p:cNvSpPr txBox="1"/>
          <p:nvPr/>
        </p:nvSpPr>
        <p:spPr>
          <a:xfrm>
            <a:off x="4610100" y="1933575"/>
            <a:ext cx="2971800" cy="6705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B8860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2D26908-3A16-43F0-BB44-9954C2B9BF1E}"/>
              </a:ext>
            </a:extLst>
          </p:cNvPr>
          <p:cNvSpPr txBox="1"/>
          <p:nvPr/>
        </p:nvSpPr>
        <p:spPr>
          <a:xfrm>
            <a:off x="4610100" y="261937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技术验证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DEFA6D1-B579-4662-925E-B97D1F5B3681}"/>
              </a:ext>
            </a:extLst>
          </p:cNvPr>
          <p:cNvSpPr txBox="1"/>
          <p:nvPr/>
        </p:nvSpPr>
        <p:spPr>
          <a:xfrm>
            <a:off x="4610100" y="2943225"/>
            <a:ext cx="2971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周 3—8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F0AD306-CEE9-469A-91B8-2E1BADBC26DA}"/>
              </a:ext>
            </a:extLst>
          </p:cNvPr>
          <p:cNvSpPr txBox="1"/>
          <p:nvPr/>
        </p:nvSpPr>
        <p:spPr>
          <a:xfrm>
            <a:off x="4610100" y="3324225"/>
            <a:ext cx="29718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pgvector RAG 链路 PoC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方言语音 → 问答 → 语音回答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工作台 Copilot 侧栏原型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400BC88D-65CC-41C7-B3D6-276ECB11691A}"/>
              </a:ext>
            </a:extLst>
          </p:cNvPr>
          <p:cNvSpPr/>
          <p:nvPr/>
        </p:nvSpPr>
        <p:spPr>
          <a:xfrm>
            <a:off x="8077200" y="1666875"/>
            <a:ext cx="35052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E74F17D-72FD-4011-9C37-5692C33B93C6}"/>
              </a:ext>
            </a:extLst>
          </p:cNvPr>
          <p:cNvSpPr txBox="1"/>
          <p:nvPr/>
        </p:nvSpPr>
        <p:spPr>
          <a:xfrm>
            <a:off x="8343900" y="1933575"/>
            <a:ext cx="2971800" cy="6705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B8860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AEDBB03-C9DF-4145-B16A-962BBB8C99EB}"/>
              </a:ext>
            </a:extLst>
          </p:cNvPr>
          <p:cNvSpPr txBox="1"/>
          <p:nvPr/>
        </p:nvSpPr>
        <p:spPr>
          <a:xfrm>
            <a:off x="8343900" y="261937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场景与评审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AABFBC6-DBAE-40ED-A92D-B5F00ECCEB72}"/>
              </a:ext>
            </a:extLst>
          </p:cNvPr>
          <p:cNvSpPr txBox="1"/>
          <p:nvPr/>
        </p:nvSpPr>
        <p:spPr>
          <a:xfrm>
            <a:off x="8343900" y="2943225"/>
            <a:ext cx="2971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周 5—12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4DCAAFF-2D1D-409B-A205-0FD0EA34560B}"/>
              </a:ext>
            </a:extLst>
          </p:cNvPr>
          <p:cNvSpPr txBox="1"/>
          <p:nvPr/>
        </p:nvSpPr>
        <p:spPr>
          <a:xfrm>
            <a:off x="8343900" y="3324225"/>
            <a:ext cx="29718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病虫害照片 500—1000 张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评测集 v0.1 与标注手册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P0 中期评审与放行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482BF2F-0B32-49D1-8191-9F41ACE549CC}"/>
              </a:ext>
            </a:extLst>
          </p:cNvPr>
          <p:cNvSpPr txBox="1"/>
          <p:nvPr/>
        </p:nvSpPr>
        <p:spPr>
          <a:xfrm>
            <a:off x="609600" y="6076950"/>
            <a:ext cx="109728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12 周验收：战略基线确认 + 两个 P0 可演示，指标可对照，审计留痕 100%。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846ABEB-D869-46A7-A720-74AC101F5432}"/>
              </a:ext>
            </a:extLst>
          </p:cNvPr>
          <p:cNvSpPr txBox="1"/>
          <p:nvPr/>
        </p:nvSpPr>
        <p:spPr>
          <a:xfrm>
            <a:off x="914400" y="1143000"/>
            <a:ext cx="3810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B8860B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96B3AD9-FE39-41FB-A77C-2DCB8C0213F9}"/>
              </a:ext>
            </a:extLst>
          </p:cNvPr>
          <p:cNvSpPr txBox="1"/>
          <p:nvPr/>
        </p:nvSpPr>
        <p:spPr>
          <a:xfrm>
            <a:off x="914400" y="1562100"/>
            <a:ext cx="9525000" cy="107289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F7F3E8"/>
                </a:solidFill>
                <a:latin typeface="Microsoft YaHei"/>
                <a:ea typeface="Microsoft YaHei"/>
              </a:rPr>
              <a:t>让技术长出乡土味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045278E-872F-4DC4-85E4-87335D0B9284}"/>
              </a:ext>
            </a:extLst>
          </p:cNvPr>
          <p:cNvSpPr txBox="1"/>
          <p:nvPr/>
        </p:nvSpPr>
        <p:spPr>
          <a:xfrm>
            <a:off x="914400" y="2857500"/>
            <a:ext cx="8572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200">
                <a:solidFill>
                  <a:srgbClr val="E8E0CE"/>
                </a:solidFill>
                <a:latin typeface="Microsoft YaHei"/>
                <a:ea typeface="Microsoft YaHei"/>
              </a:rPr>
              <a:t>从战略基线、一张契约卡、两个 P0 试点开始。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AD437FA-600C-4B5C-B98C-D3757BD999B0}"/>
              </a:ext>
            </a:extLst>
          </p:cNvPr>
          <p:cNvSpPr txBox="1"/>
          <p:nvPr/>
        </p:nvSpPr>
        <p:spPr>
          <a:xfrm>
            <a:off x="914400" y="4000500"/>
            <a:ext cx="28575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5F1E6"/>
                </a:solidFill>
                <a:latin typeface="Microsoft YaHei"/>
                <a:ea typeface="Microsoft YaHei"/>
              </a:rPr>
              <a:t>01 评审战略与蓝图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2734CED-3D39-470B-A299-A8C0B045B405}"/>
              </a:ext>
            </a:extLst>
          </p:cNvPr>
          <p:cNvSpPr txBox="1"/>
          <p:nvPr/>
        </p:nvSpPr>
        <p:spPr>
          <a:xfrm>
            <a:off x="914400" y="436245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C9BFA9"/>
                </a:solidFill>
                <a:latin typeface="Microsoft YaHei"/>
                <a:ea typeface="Microsoft YaHei"/>
              </a:rPr>
              <a:t>对齐使命、目标、边界与优先级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5157367-C90B-4F11-9B29-DF6712C017B4}"/>
              </a:ext>
            </a:extLst>
          </p:cNvPr>
          <p:cNvSpPr txBox="1"/>
          <p:nvPr/>
        </p:nvSpPr>
        <p:spPr>
          <a:xfrm>
            <a:off x="4572000" y="4000500"/>
            <a:ext cx="28575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5F1E6"/>
                </a:solidFill>
                <a:latin typeface="Microsoft YaHei"/>
                <a:ea typeface="Microsoft YaHei"/>
              </a:rPr>
              <a:t>02 数据盘点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43482E4-49EB-4A3F-B8D4-02D0A1D562A3}"/>
              </a:ext>
            </a:extLst>
          </p:cNvPr>
          <p:cNvSpPr txBox="1"/>
          <p:nvPr/>
        </p:nvSpPr>
        <p:spPr>
          <a:xfrm>
            <a:off x="4572000" y="436245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C9BFA9"/>
                </a:solidFill>
                <a:latin typeface="Microsoft YaHei"/>
                <a:ea typeface="Microsoft YaHei"/>
              </a:rPr>
              <a:t>地块、作物、批次、知识源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727AF17-2097-4AAB-B45B-6CFFB7733E19}"/>
              </a:ext>
            </a:extLst>
          </p:cNvPr>
          <p:cNvSpPr txBox="1"/>
          <p:nvPr/>
        </p:nvSpPr>
        <p:spPr>
          <a:xfrm>
            <a:off x="8229600" y="4000500"/>
            <a:ext cx="28575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5F1E6"/>
                </a:solidFill>
                <a:latin typeface="Microsoft YaHei"/>
                <a:ea typeface="Microsoft YaHei"/>
              </a:rPr>
              <a:t>03 启动试点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59AAF66-A8D8-4E88-B6B3-2ADD073BF10C}"/>
              </a:ext>
            </a:extLst>
          </p:cNvPr>
          <p:cNvSpPr txBox="1"/>
          <p:nvPr/>
        </p:nvSpPr>
        <p:spPr>
          <a:xfrm>
            <a:off x="8229600" y="436245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C9BFA9"/>
                </a:solidFill>
                <a:latin typeface="Microsoft YaHei"/>
                <a:ea typeface="Microsoft YaHei"/>
              </a:rPr>
              <a:t>语音问答 + 病虫害识别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0EF3C44-B9A6-410C-BE30-F15A9F3D1661}"/>
              </a:ext>
            </a:extLst>
          </p:cNvPr>
          <p:cNvSpPr txBox="1"/>
          <p:nvPr/>
        </p:nvSpPr>
        <p:spPr>
          <a:xfrm>
            <a:off x="914400" y="6038850"/>
            <a:ext cx="7620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C9BFA9"/>
                </a:solidFill>
                <a:latin typeface="Microsoft YaHei"/>
                <a:ea typeface="Microsoft YaHei"/>
              </a:rPr>
              <a:t>兴隆沟村 · 智能系统建设小组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1EE18EC-C9E0-47D1-891D-47EEC4F4A0D0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技术底座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5C7F464-ECFE-4383-889F-8DF4B6AE57D3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技术路线：不自研大模型，先用现成能力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7B0ED30-D1F4-449F-981A-8751591B746A}"/>
              </a:ext>
            </a:extLst>
          </p:cNvPr>
          <p:cNvSpPr/>
          <p:nvPr/>
        </p:nvSpPr>
        <p:spPr>
          <a:xfrm>
            <a:off x="609600" y="1714500"/>
            <a:ext cx="35052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37A669A-9A20-43C4-9A37-064C2A80B27C}"/>
              </a:ext>
            </a:extLst>
          </p:cNvPr>
          <p:cNvSpPr txBox="1"/>
          <p:nvPr/>
        </p:nvSpPr>
        <p:spPr>
          <a:xfrm>
            <a:off x="876300" y="192405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ED87F44-EEAC-4C71-A4EC-412897FF419D}"/>
              </a:ext>
            </a:extLst>
          </p:cNvPr>
          <p:cNvSpPr txBox="1"/>
          <p:nvPr/>
        </p:nvSpPr>
        <p:spPr>
          <a:xfrm>
            <a:off x="876300" y="2152650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默认调用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B1F1D85-5998-43DD-B493-B5EF7D47DD27}"/>
              </a:ext>
            </a:extLst>
          </p:cNvPr>
          <p:cNvSpPr txBox="1"/>
          <p:nvPr/>
        </p:nvSpPr>
        <p:spPr>
          <a:xfrm>
            <a:off x="876300" y="2571750"/>
            <a:ext cx="29718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神农 4.0：1016 种病虫害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官方口径 93%+，需本地复测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API + MCP，支持方言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农科小智作为备选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6B5800-680B-4761-9B3A-9409BFB3B72B}"/>
              </a:ext>
            </a:extLst>
          </p:cNvPr>
          <p:cNvSpPr txBox="1"/>
          <p:nvPr/>
        </p:nvSpPr>
        <p:spPr>
          <a:xfrm>
            <a:off x="876300" y="4248150"/>
            <a:ext cx="29718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零训练 · 2 周可验证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D4054A0-9BE5-4D0E-81D9-4E32473DB833}"/>
              </a:ext>
            </a:extLst>
          </p:cNvPr>
          <p:cNvSpPr/>
          <p:nvPr/>
        </p:nvSpPr>
        <p:spPr>
          <a:xfrm>
            <a:off x="4343400" y="1714500"/>
            <a:ext cx="35052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E4321A1-889A-429E-AEF1-5FDE0D17CF6C}"/>
              </a:ext>
            </a:extLst>
          </p:cNvPr>
          <p:cNvSpPr txBox="1"/>
          <p:nvPr/>
        </p:nvSpPr>
        <p:spPr>
          <a:xfrm>
            <a:off x="4610100" y="192405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B3A3AC4-5FFD-4956-A512-D81235998D6E}"/>
              </a:ext>
            </a:extLst>
          </p:cNvPr>
          <p:cNvSpPr txBox="1"/>
          <p:nvPr/>
        </p:nvSpPr>
        <p:spPr>
          <a:xfrm>
            <a:off x="4610100" y="2152650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知识检索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2D42547-E253-41AC-BF54-5332ED2FAC03}"/>
              </a:ext>
            </a:extLst>
          </p:cNvPr>
          <p:cNvSpPr txBox="1"/>
          <p:nvPr/>
        </p:nvSpPr>
        <p:spPr>
          <a:xfrm>
            <a:off x="4610100" y="2571750"/>
            <a:ext cx="29718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pgvector + CloudBase PG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语料：政策 / 农技 / 村情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答案强制带引用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村情条目需审核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6772F8B-0EDA-49D2-A6C9-36E6148573EE}"/>
              </a:ext>
            </a:extLst>
          </p:cNvPr>
          <p:cNvSpPr txBox="1"/>
          <p:nvPr/>
        </p:nvSpPr>
        <p:spPr>
          <a:xfrm>
            <a:off x="4610100" y="4248150"/>
            <a:ext cx="29718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知识不进模型参数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80796B9-5338-4C7A-AE61-495EFAE08EDC}"/>
              </a:ext>
            </a:extLst>
          </p:cNvPr>
          <p:cNvSpPr/>
          <p:nvPr/>
        </p:nvSpPr>
        <p:spPr>
          <a:xfrm>
            <a:off x="8077200" y="1714500"/>
            <a:ext cx="35052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E932271-2E1B-43BC-971D-009FA0D4ACB4}"/>
              </a:ext>
            </a:extLst>
          </p:cNvPr>
          <p:cNvSpPr txBox="1"/>
          <p:nvPr/>
        </p:nvSpPr>
        <p:spPr>
          <a:xfrm>
            <a:off x="8343900" y="192405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A61C901-1D6B-4C26-A943-A4DD7A5DDA68}"/>
              </a:ext>
            </a:extLst>
          </p:cNvPr>
          <p:cNvSpPr txBox="1"/>
          <p:nvPr/>
        </p:nvSpPr>
        <p:spPr>
          <a:xfrm>
            <a:off x="8343900" y="2152650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条件微调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1E81445-7344-46DA-9BE6-C7DDB227A0B7}"/>
              </a:ext>
            </a:extLst>
          </p:cNvPr>
          <p:cNvSpPr txBox="1"/>
          <p:nvPr/>
        </p:nvSpPr>
        <p:spPr>
          <a:xfrm>
            <a:off x="8343900" y="2571750"/>
            <a:ext cx="29718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触发：本地 Top-3 &lt; 80%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数据：AI Challenger / IP102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只用本地照片校准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只训轻量视觉模型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53CFC42-4527-403E-B351-45CCF418835B}"/>
              </a:ext>
            </a:extLst>
          </p:cNvPr>
          <p:cNvSpPr txBox="1"/>
          <p:nvPr/>
        </p:nvSpPr>
        <p:spPr>
          <a:xfrm>
            <a:off x="8343900" y="4248150"/>
            <a:ext cx="29718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不训大语言模型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9B9DD772-7526-4716-8E3C-FB4CB11E9704}"/>
              </a:ext>
            </a:extLst>
          </p:cNvPr>
          <p:cNvSpPr/>
          <p:nvPr/>
        </p:nvSpPr>
        <p:spPr>
          <a:xfrm>
            <a:off x="609600" y="5143500"/>
            <a:ext cx="10972800" cy="1238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4EE65E0-AB85-422E-993C-11A8FB04EEB6}"/>
              </a:ext>
            </a:extLst>
          </p:cNvPr>
          <p:cNvSpPr txBox="1"/>
          <p:nvPr/>
        </p:nvSpPr>
        <p:spPr>
          <a:xfrm>
            <a:off x="914400" y="5295900"/>
            <a:ext cx="10363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B8860B"/>
                </a:solidFill>
                <a:latin typeface="Microsoft YaHei"/>
                <a:ea typeface="Microsoft YaHei"/>
              </a:rPr>
              <a:t>三条红线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B94A180-034E-4C92-B7A2-F920AAF696BF}"/>
              </a:ext>
            </a:extLst>
          </p:cNvPr>
          <p:cNvSpPr txBox="1"/>
          <p:nvPr/>
        </p:nvSpPr>
        <p:spPr>
          <a:xfrm>
            <a:off x="914400" y="5600700"/>
            <a:ext cx="10363200" cy="81483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准确率以本地 50–100 张实拍复测为准，不引用厂商宣传值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第三方 API 先核验商用条款、数据出域与留存政策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案例、竞品、推广稿只存档，不进入运行时知识库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B0BF88C-129D-4106-8C28-2F486B239C18}"/>
              </a:ext>
            </a:extLst>
          </p:cNvPr>
          <p:cNvSpPr/>
          <p:nvPr/>
        </p:nvSpPr>
        <p:spPr>
          <a:xfrm>
            <a:off x="609600" y="1714500"/>
            <a:ext cx="40005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5E81B94-F5DE-42BD-B8B8-E93FBD6533DF}"/>
              </a:ext>
            </a:extLst>
          </p:cNvPr>
          <p:cNvSpPr/>
          <p:nvPr/>
        </p:nvSpPr>
        <p:spPr>
          <a:xfrm>
            <a:off x="4914900" y="1714500"/>
            <a:ext cx="31813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ADC91E0-F671-402A-A46A-396B210A3519}"/>
              </a:ext>
            </a:extLst>
          </p:cNvPr>
          <p:cNvSpPr/>
          <p:nvPr/>
        </p:nvSpPr>
        <p:spPr>
          <a:xfrm>
            <a:off x="8210550" y="1714500"/>
            <a:ext cx="31813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ABACC0A-43B9-4A8F-B36E-3EEFBA86F530}"/>
              </a:ext>
            </a:extLst>
          </p:cNvPr>
          <p:cNvSpPr/>
          <p:nvPr/>
        </p:nvSpPr>
        <p:spPr>
          <a:xfrm>
            <a:off x="4914900" y="2819400"/>
            <a:ext cx="31813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13EE287-6B7B-47F4-87F7-CD69F94CD52C}"/>
              </a:ext>
            </a:extLst>
          </p:cNvPr>
          <p:cNvSpPr/>
          <p:nvPr/>
        </p:nvSpPr>
        <p:spPr>
          <a:xfrm>
            <a:off x="8210550" y="2819400"/>
            <a:ext cx="31813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BC11146-B708-404B-A735-E9246361C416}"/>
              </a:ext>
            </a:extLst>
          </p:cNvPr>
          <p:cNvSpPr/>
          <p:nvPr/>
        </p:nvSpPr>
        <p:spPr>
          <a:xfrm>
            <a:off x="4914900" y="3924300"/>
            <a:ext cx="31813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F3B1D2B-D28A-4520-BB14-9955FC166B51}"/>
              </a:ext>
            </a:extLst>
          </p:cNvPr>
          <p:cNvSpPr/>
          <p:nvPr/>
        </p:nvSpPr>
        <p:spPr>
          <a:xfrm>
            <a:off x="8210550" y="3924300"/>
            <a:ext cx="31813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2CA72A89-F9B8-43CA-84C3-97621EA9E58A}"/>
              </a:ext>
            </a:extLst>
          </p:cNvPr>
          <p:cNvSpPr/>
          <p:nvPr/>
        </p:nvSpPr>
        <p:spPr>
          <a:xfrm>
            <a:off x="609600" y="5334000"/>
            <a:ext cx="10972800" cy="514350"/>
          </a:xfrm>
          <a:prstGeom prst="rect">
            <a:avLst/>
          </a:prstGeom>
          <a:solidFill>
            <a:srgbClr val="2F5D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D35349A-600B-4ABA-A587-604B626587B5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F5D46"/>
                </a:solidFill>
              </a:rPr>
              <a:t>战略基线 · 建议稿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6D793D9-730D-4F9C-9DA7-7C66D0AD2C9D}"/>
              </a:ext>
            </a:extLst>
          </p:cNvPr>
          <p:cNvSpPr txBox="1"/>
          <p:nvPr/>
        </p:nvSpPr>
        <p:spPr>
          <a:xfrm>
            <a:off x="609600" y="800100"/>
            <a:ext cx="11049000" cy="571500"/>
          </a:xfrm>
        </p:spPr>
        <p:txBody>
          <a:bodyPr wrap="square" rtlCol="0" lIns="0" tIns="0" rIns="0" bIns="0" anchor="t"/>
          <a:lstStyle/>
          <a:p>
            <a:r>
              <a:rPr sz="3600" b="1">
                <a:solidFill>
                  <a:srgbClr val="26302A"/>
                </a:solidFill>
              </a:rPr>
              <a:t>为谁创造价值，决定了 Agent 的边界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34FF2D7-2F3E-498D-BE50-0FE163D294ED}"/>
              </a:ext>
            </a:extLst>
          </p:cNvPr>
          <p:cNvSpPr txBox="1"/>
          <p:nvPr/>
        </p:nvSpPr>
        <p:spPr>
          <a:xfrm>
            <a:off x="876300" y="1981200"/>
            <a:ext cx="3467100" cy="876300"/>
          </a:xfrm>
        </p:spPr>
        <p:txBody>
          <a:bodyPr wrap="square" rtlCol="0" lIns="0" tIns="0" rIns="0" bIns="0" anchor="t"/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2F5D46"/>
                </a:solidFill>
              </a:rPr>
              <a:t>农户不是流量，</a:t>
            </a:r>
          </a:p>
          <a:p>
            <a:r>
              <a:rPr sz="2200" b="1">
                <a:solidFill>
                  <a:srgbClr val="2F5D46"/>
                </a:solidFill>
              </a:rPr>
              <a:t>是长期合作者。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4A1EAC2-0F9E-4DB7-AA45-159C6A919E00}"/>
              </a:ext>
            </a:extLst>
          </p:cNvPr>
          <p:cNvSpPr txBox="1"/>
          <p:nvPr/>
        </p:nvSpPr>
        <p:spPr>
          <a:xfrm>
            <a:off x="876300" y="2971800"/>
            <a:ext cx="3467100" cy="990600"/>
          </a:xfrm>
        </p:spPr>
        <p:txBody>
          <a:bodyPr wrap="square" rtlCol="0" lIns="0" tIns="0" rIns="0" bIns="0" anchor="t"/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B746C"/>
                </a:solidFill>
              </a:rPr>
              <a:t>消费者不是转化率，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6B746C"/>
                </a:solidFill>
              </a:rPr>
              <a:t>是食品安全与信任的受托方。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B746C"/>
                </a:solidFill>
              </a:rPr>
              <a:t>村集体不是房东，</a:t>
            </a:r>
          </a:p>
          <a:p>
            <a:r>
              <a:rPr sz="1300">
                <a:solidFill>
                  <a:srgbClr val="6B746C"/>
                </a:solidFill>
              </a:rPr>
              <a:t>是公共服务的共同责任方。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15B8FA9-3DFF-4B90-9898-0B1C4903C1D0}"/>
              </a:ext>
            </a:extLst>
          </p:cNvPr>
          <p:cNvSpPr txBox="1"/>
          <p:nvPr/>
        </p:nvSpPr>
        <p:spPr>
          <a:xfrm>
            <a:off x="876300" y="4114800"/>
            <a:ext cx="3467100" cy="552450"/>
          </a:xfrm>
        </p:spPr>
        <p:txBody>
          <a:bodyPr wrap="square" rtlCol="0" lIns="0" tIns="0" rIns="0" bIns="0" anchor="t"/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B8860B"/>
                </a:solidFill>
              </a:rPr>
              <a:t>利润是燃料和结果，</a:t>
            </a:r>
          </a:p>
          <a:p>
            <a:r>
              <a:rPr sz="1400" b="1">
                <a:solidFill>
                  <a:srgbClr val="B8860B"/>
                </a:solidFill>
              </a:rPr>
              <a:t>不是唯一目的。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36524BB-AA52-4EBD-A9C5-499F3018798F}"/>
              </a:ext>
            </a:extLst>
          </p:cNvPr>
          <p:cNvSpPr txBox="1"/>
          <p:nvPr/>
        </p:nvSpPr>
        <p:spPr>
          <a:xfrm>
            <a:off x="5105400" y="1828800"/>
            <a:ext cx="2800350" cy="800100"/>
          </a:xfrm>
        </p:spPr>
        <p:txBody>
          <a:bodyPr wrap="square" rtlCol="0" lIns="0" tIns="0" rIns="0" bIns="0" anchor="t"/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6302A"/>
                </a:solidFill>
              </a:rPr>
              <a:t>农户</a:t>
            </a:r>
          </a:p>
          <a:p>
            <a:r>
              <a:rPr sz="1150">
                <a:solidFill>
                  <a:srgbClr val="6B746C"/>
                </a:solidFill>
              </a:rPr>
              <a:t>给货物与信任</a:t>
            </a:r>
            <a:br/>
            <a:r>
              <a:rPr sz="1150">
                <a:solidFill>
                  <a:srgbClr val="6B746C"/>
                </a:solidFill>
              </a:rPr>
              <a:t>得收购、回款、技术服务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EC1333B-5FE7-432B-A59D-6C70C83D980B}"/>
              </a:ext>
            </a:extLst>
          </p:cNvPr>
          <p:cNvSpPr txBox="1"/>
          <p:nvPr/>
        </p:nvSpPr>
        <p:spPr>
          <a:xfrm>
            <a:off x="8401050" y="1828800"/>
            <a:ext cx="2800350" cy="800100"/>
          </a:xfrm>
        </p:spPr>
        <p:txBody>
          <a:bodyPr wrap="square" rtlCol="0" lIns="0" tIns="0" rIns="0" bIns="0" anchor="t"/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6302A"/>
                </a:solidFill>
              </a:rPr>
              <a:t>消费者</a:t>
            </a:r>
          </a:p>
          <a:p>
            <a:r>
              <a:rPr sz="1150">
                <a:solidFill>
                  <a:srgbClr val="6B746C"/>
                </a:solidFill>
              </a:rPr>
              <a:t>给订单与口碑</a:t>
            </a:r>
            <a:br/>
            <a:r>
              <a:rPr sz="1150">
                <a:solidFill>
                  <a:srgbClr val="6B746C"/>
                </a:solidFill>
              </a:rPr>
              <a:t>得安全、溯源、稳定供应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B5D2029-53F5-490B-B1C0-B138BCCA8D90}"/>
              </a:ext>
            </a:extLst>
          </p:cNvPr>
          <p:cNvSpPr txBox="1"/>
          <p:nvPr/>
        </p:nvSpPr>
        <p:spPr>
          <a:xfrm>
            <a:off x="5105400" y="2933700"/>
            <a:ext cx="2800350" cy="800100"/>
          </a:xfrm>
        </p:spPr>
        <p:txBody>
          <a:bodyPr wrap="square" rtlCol="0" lIns="0" tIns="0" rIns="0" bIns="0" anchor="t"/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6302A"/>
                </a:solidFill>
              </a:rPr>
              <a:t>村集体</a:t>
            </a:r>
          </a:p>
          <a:p>
            <a:r>
              <a:rPr sz="1150">
                <a:solidFill>
                  <a:srgbClr val="6B746C"/>
                </a:solidFill>
              </a:rPr>
              <a:t>给场地与协调</a:t>
            </a:r>
            <a:br/>
            <a:r>
              <a:rPr sz="1150">
                <a:solidFill>
                  <a:srgbClr val="6B746C"/>
                </a:solidFill>
              </a:rPr>
              <a:t>得分红、就业、公共服务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F2BBD45-F539-4BCF-A3DA-831CFE154AE7}"/>
              </a:ext>
            </a:extLst>
          </p:cNvPr>
          <p:cNvSpPr txBox="1"/>
          <p:nvPr/>
        </p:nvSpPr>
        <p:spPr>
          <a:xfrm>
            <a:off x="8401050" y="2933700"/>
            <a:ext cx="2800350" cy="800100"/>
          </a:xfrm>
        </p:spPr>
        <p:txBody>
          <a:bodyPr wrap="square" rtlCol="0" lIns="0" tIns="0" rIns="0" bIns="0" anchor="t"/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6302A"/>
                </a:solidFill>
              </a:rPr>
              <a:t>平台</a:t>
            </a:r>
          </a:p>
          <a:p>
            <a:r>
              <a:rPr sz="1150">
                <a:solidFill>
                  <a:srgbClr val="6B746C"/>
                </a:solidFill>
              </a:rPr>
              <a:t>给资金、系统、管理</a:t>
            </a:r>
            <a:br/>
            <a:r>
              <a:rPr sz="1150">
                <a:solidFill>
                  <a:srgbClr val="6B746C"/>
                </a:solidFill>
              </a:rPr>
              <a:t>得可持续收入与效率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2F9F85E-E179-4E16-8E1A-7CACC65D69A3}"/>
              </a:ext>
            </a:extLst>
          </p:cNvPr>
          <p:cNvSpPr txBox="1"/>
          <p:nvPr/>
        </p:nvSpPr>
        <p:spPr>
          <a:xfrm>
            <a:off x="5105400" y="4038600"/>
            <a:ext cx="2800350" cy="800100"/>
          </a:xfrm>
        </p:spPr>
        <p:txBody>
          <a:bodyPr wrap="square" rtlCol="0" lIns="0" tIns="0" rIns="0" bIns="0" anchor="t"/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6302A"/>
                </a:solidFill>
              </a:rPr>
              <a:t>运营团队</a:t>
            </a:r>
          </a:p>
          <a:p>
            <a:r>
              <a:rPr sz="1150">
                <a:solidFill>
                  <a:srgbClr val="6B746C"/>
                </a:solidFill>
              </a:rPr>
              <a:t>给劳动与专业</a:t>
            </a:r>
            <a:br/>
            <a:r>
              <a:rPr sz="1150">
                <a:solidFill>
                  <a:srgbClr val="6B746C"/>
                </a:solidFill>
              </a:rPr>
              <a:t>得工资、成长、安全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6DE202F-C9FB-41C3-AD80-52CE3A1E5CAF}"/>
              </a:ext>
            </a:extLst>
          </p:cNvPr>
          <p:cNvSpPr txBox="1"/>
          <p:nvPr/>
        </p:nvSpPr>
        <p:spPr>
          <a:xfrm>
            <a:off x="8401050" y="4038600"/>
            <a:ext cx="2800350" cy="800100"/>
          </a:xfrm>
        </p:spPr>
        <p:txBody>
          <a:bodyPr wrap="square" rtlCol="0" lIns="0" tIns="0" rIns="0" bIns="0" anchor="t"/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6302A"/>
                </a:solidFill>
              </a:rPr>
              <a:t>审计 / 公众</a:t>
            </a:r>
          </a:p>
          <a:p>
            <a:r>
              <a:rPr sz="1150">
                <a:solidFill>
                  <a:srgbClr val="6B746C"/>
                </a:solidFill>
              </a:rPr>
              <a:t>给监督与信任</a:t>
            </a:r>
            <a:br/>
            <a:r>
              <a:rPr sz="1150">
                <a:solidFill>
                  <a:srgbClr val="6B746C"/>
                </a:solidFill>
              </a:rPr>
              <a:t>得可审计、可解释、可申诉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B34C9D8-1FDC-4280-9302-1B0FBF7EA962}"/>
              </a:ext>
            </a:extLst>
          </p:cNvPr>
          <p:cNvSpPr txBox="1"/>
          <p:nvPr/>
        </p:nvSpPr>
        <p:spPr>
          <a:xfrm>
            <a:off x="838200" y="5467350"/>
            <a:ext cx="105156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5F1E6"/>
                </a:solidFill>
              </a:rPr>
              <a:t>红线：食品安全 · 法律合规 · 农户尊严 · 数据隐私 · 资金安全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3BF8333-B22D-4C63-8FF6-A5F605B04935}"/>
              </a:ext>
            </a:extLst>
          </p:cNvPr>
          <p:cNvSpPr txBox="1"/>
          <p:nvPr/>
        </p:nvSpPr>
        <p:spPr>
          <a:xfrm>
            <a:off x="609600" y="6000750"/>
            <a:ext cx="10972800" cy="2667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B8860B"/>
                </a:solidFill>
              </a:rPr>
              <a:t>先写清楚交换关系、红线和风险分担，再谈功能与 Agent。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584260A-2B08-413D-8A84-C7FCED6763E0}"/>
              </a:ext>
            </a:extLst>
          </p:cNvPr>
          <p:cNvSpPr/>
          <p:nvPr/>
        </p:nvSpPr>
        <p:spPr>
          <a:xfrm>
            <a:off x="609600" y="1714500"/>
            <a:ext cx="6096000" cy="4953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6D13D63-1734-4A2A-B888-AE802E3B1194}"/>
              </a:ext>
            </a:extLst>
          </p:cNvPr>
          <p:cNvSpPr/>
          <p:nvPr/>
        </p:nvSpPr>
        <p:spPr>
          <a:xfrm>
            <a:off x="609600" y="2266950"/>
            <a:ext cx="6096000" cy="495300"/>
          </a:xfrm>
          <a:prstGeom prst="rect">
            <a:avLst/>
          </a:prstGeom>
          <a:solidFill>
            <a:srgbClr val="F1ECD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6252E55-DF73-41E1-A390-9E553EC1B08D}"/>
              </a:ext>
            </a:extLst>
          </p:cNvPr>
          <p:cNvSpPr/>
          <p:nvPr/>
        </p:nvSpPr>
        <p:spPr>
          <a:xfrm>
            <a:off x="609600" y="2819400"/>
            <a:ext cx="6096000" cy="4953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BE220FB-0D94-4F14-9509-6A5ECDDDEFAA}"/>
              </a:ext>
            </a:extLst>
          </p:cNvPr>
          <p:cNvSpPr/>
          <p:nvPr/>
        </p:nvSpPr>
        <p:spPr>
          <a:xfrm>
            <a:off x="609600" y="3371850"/>
            <a:ext cx="6096000" cy="495300"/>
          </a:xfrm>
          <a:prstGeom prst="rect">
            <a:avLst/>
          </a:prstGeom>
          <a:solidFill>
            <a:srgbClr val="F1ECD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A1B2FA8-21DA-45CF-BBE1-24A6F7B5FF5B}"/>
              </a:ext>
            </a:extLst>
          </p:cNvPr>
          <p:cNvSpPr/>
          <p:nvPr/>
        </p:nvSpPr>
        <p:spPr>
          <a:xfrm>
            <a:off x="609600" y="3924300"/>
            <a:ext cx="6096000" cy="4953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B40E2DA-4916-4F5B-85C6-2294195DFD3C}"/>
              </a:ext>
            </a:extLst>
          </p:cNvPr>
          <p:cNvSpPr/>
          <p:nvPr/>
        </p:nvSpPr>
        <p:spPr>
          <a:xfrm>
            <a:off x="609600" y="4476750"/>
            <a:ext cx="6096000" cy="495300"/>
          </a:xfrm>
          <a:prstGeom prst="rect">
            <a:avLst/>
          </a:prstGeom>
          <a:solidFill>
            <a:srgbClr val="F1ECD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7FD991E-6B6E-4A0E-BA97-06B55CF3E5FE}"/>
              </a:ext>
            </a:extLst>
          </p:cNvPr>
          <p:cNvSpPr/>
          <p:nvPr/>
        </p:nvSpPr>
        <p:spPr>
          <a:xfrm>
            <a:off x="609600" y="5029200"/>
            <a:ext cx="6096000" cy="4953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755464B2-8B58-4BB4-A57C-73F1DBA6B20B}"/>
              </a:ext>
            </a:extLst>
          </p:cNvPr>
          <p:cNvSpPr/>
          <p:nvPr/>
        </p:nvSpPr>
        <p:spPr>
          <a:xfrm>
            <a:off x="7010400" y="1714500"/>
            <a:ext cx="4572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27153CD-ED68-488C-992E-CC03B3E07CC2}"/>
              </a:ext>
            </a:extLst>
          </p:cNvPr>
          <p:cNvSpPr/>
          <p:nvPr/>
        </p:nvSpPr>
        <p:spPr>
          <a:xfrm>
            <a:off x="609600" y="5810250"/>
            <a:ext cx="10972800" cy="457200"/>
          </a:xfrm>
          <a:prstGeom prst="rect">
            <a:avLst/>
          </a:prstGeom>
          <a:solidFill>
            <a:srgbClr val="2F5D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30953CC-9708-4F7E-9623-21D49A933A33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F5D46"/>
                </a:solidFill>
              </a:rPr>
              <a:t>战略排序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9760228-7A12-4C4A-912F-531016BBBC4A}"/>
              </a:ext>
            </a:extLst>
          </p:cNvPr>
          <p:cNvSpPr txBox="1"/>
          <p:nvPr/>
        </p:nvSpPr>
        <p:spPr>
          <a:xfrm>
            <a:off x="609600" y="800100"/>
            <a:ext cx="11049000" cy="571500"/>
          </a:xfrm>
        </p:spPr>
        <p:txBody>
          <a:bodyPr wrap="square" rtlCol="0" lIns="0" tIns="0" rIns="0" bIns="0" anchor="t"/>
          <a:lstStyle/>
          <a:p>
            <a:r>
              <a:rPr sz="3600" b="1">
                <a:solidFill>
                  <a:srgbClr val="26302A"/>
                </a:solidFill>
              </a:rPr>
              <a:t>没有唯一的第一名，只有约束下的排序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D7C9135-35EE-4F9B-943B-F65CCC9B96EB}"/>
              </a:ext>
            </a:extLst>
          </p:cNvPr>
          <p:cNvSpPr txBox="1"/>
          <p:nvPr/>
        </p:nvSpPr>
        <p:spPr>
          <a:xfrm>
            <a:off x="609600" y="1485900"/>
            <a:ext cx="3810000" cy="1905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默认排序（随阶段调整）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B31CBBC-414A-4682-8698-1F58C1796D93}"/>
              </a:ext>
            </a:extLst>
          </p:cNvPr>
          <p:cNvSpPr txBox="1"/>
          <p:nvPr/>
        </p:nvSpPr>
        <p:spPr>
          <a:xfrm>
            <a:off x="762000" y="1828800"/>
            <a:ext cx="381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B8860B"/>
                </a:solidFill>
              </a:rPr>
              <a:t>01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8F3DDE9-C44A-4141-B450-F5AD961452BD}"/>
              </a:ext>
            </a:extLst>
          </p:cNvPr>
          <p:cNvSpPr txBox="1"/>
          <p:nvPr/>
        </p:nvSpPr>
        <p:spPr>
          <a:xfrm>
            <a:off x="1219200" y="1771650"/>
            <a:ext cx="17145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6302A"/>
                </a:solidFill>
              </a:rPr>
              <a:t>红线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E1C7B39-4E3F-4FAB-9E3C-5B31D668657C}"/>
              </a:ext>
            </a:extLst>
          </p:cNvPr>
          <p:cNvSpPr txBox="1"/>
          <p:nvPr/>
        </p:nvSpPr>
        <p:spPr>
          <a:xfrm>
            <a:off x="1219200" y="2019300"/>
            <a:ext cx="5219700" cy="1905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食品安全 / 法律 / 农户尊严 / 数据隐私 / 资金安全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3463A1A-4163-474F-9BB6-2B5FAB853B5B}"/>
              </a:ext>
            </a:extLst>
          </p:cNvPr>
          <p:cNvSpPr txBox="1"/>
          <p:nvPr/>
        </p:nvSpPr>
        <p:spPr>
          <a:xfrm>
            <a:off x="762000" y="2381250"/>
            <a:ext cx="381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B8860B"/>
                </a:solidFill>
              </a:rPr>
              <a:t>02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69A3C5F-CE3A-4137-B7BC-8DE7FE15038F}"/>
              </a:ext>
            </a:extLst>
          </p:cNvPr>
          <p:cNvSpPr txBox="1"/>
          <p:nvPr/>
        </p:nvSpPr>
        <p:spPr>
          <a:xfrm>
            <a:off x="1219200" y="2324100"/>
            <a:ext cx="17145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6302A"/>
                </a:solidFill>
              </a:rPr>
              <a:t>生存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6DF3544-2706-4913-B3C2-C2EA0F3D4866}"/>
              </a:ext>
            </a:extLst>
          </p:cNvPr>
          <p:cNvSpPr txBox="1"/>
          <p:nvPr/>
        </p:nvSpPr>
        <p:spPr>
          <a:xfrm>
            <a:off x="1219200" y="2571750"/>
            <a:ext cx="5219700" cy="1905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现金流、避免破产、关键供应、核心团队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12A3C4F-930C-4942-966C-9E6D9CE8D779}"/>
              </a:ext>
            </a:extLst>
          </p:cNvPr>
          <p:cNvSpPr txBox="1"/>
          <p:nvPr/>
        </p:nvSpPr>
        <p:spPr>
          <a:xfrm>
            <a:off x="762000" y="2933700"/>
            <a:ext cx="381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B8860B"/>
                </a:solidFill>
              </a:rPr>
              <a:t>03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1C432D8-269E-4FDA-9F86-BD98D609E179}"/>
              </a:ext>
            </a:extLst>
          </p:cNvPr>
          <p:cNvSpPr txBox="1"/>
          <p:nvPr/>
        </p:nvSpPr>
        <p:spPr>
          <a:xfrm>
            <a:off x="1219200" y="2876550"/>
            <a:ext cx="17145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6302A"/>
                </a:solidFill>
              </a:rPr>
              <a:t>信任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98B0CD5-0B00-4926-BFCA-63B1B8205529}"/>
              </a:ext>
            </a:extLst>
          </p:cNvPr>
          <p:cNvSpPr txBox="1"/>
          <p:nvPr/>
        </p:nvSpPr>
        <p:spPr>
          <a:xfrm>
            <a:off x="1219200" y="3124200"/>
            <a:ext cx="5219700" cy="1905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农户收入、消费者安全、履约质量、社区关系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B0E2651-BCFE-4F49-9A3B-74BAA1AC345E}"/>
              </a:ext>
            </a:extLst>
          </p:cNvPr>
          <p:cNvSpPr txBox="1"/>
          <p:nvPr/>
        </p:nvSpPr>
        <p:spPr>
          <a:xfrm>
            <a:off x="762000" y="3486150"/>
            <a:ext cx="381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B8860B"/>
                </a:solidFill>
              </a:rPr>
              <a:t>04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E815246-228D-4E14-947E-944FF0DABF3E}"/>
              </a:ext>
            </a:extLst>
          </p:cNvPr>
          <p:cNvSpPr txBox="1"/>
          <p:nvPr/>
        </p:nvSpPr>
        <p:spPr>
          <a:xfrm>
            <a:off x="1219200" y="3429000"/>
            <a:ext cx="17145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6302A"/>
                </a:solidFill>
              </a:rPr>
              <a:t>单位经济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17714CB-7F48-48DC-8C78-1503FF090275}"/>
              </a:ext>
            </a:extLst>
          </p:cNvPr>
          <p:cNvSpPr txBox="1"/>
          <p:nvPr/>
        </p:nvSpPr>
        <p:spPr>
          <a:xfrm>
            <a:off x="1219200" y="3676650"/>
            <a:ext cx="5219700" cy="1905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毛利、损耗、履约成本、回款周期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EB6AAD9-2854-4A9E-A689-6725717E6544}"/>
              </a:ext>
            </a:extLst>
          </p:cNvPr>
          <p:cNvSpPr txBox="1"/>
          <p:nvPr/>
        </p:nvSpPr>
        <p:spPr>
          <a:xfrm>
            <a:off x="762000" y="4038600"/>
            <a:ext cx="381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B8860B"/>
                </a:solidFill>
              </a:rPr>
              <a:t>05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4A62F96-C223-48C2-AD6C-9EA6777FB3ED}"/>
              </a:ext>
            </a:extLst>
          </p:cNvPr>
          <p:cNvSpPr txBox="1"/>
          <p:nvPr/>
        </p:nvSpPr>
        <p:spPr>
          <a:xfrm>
            <a:off x="1219200" y="3981450"/>
            <a:ext cx="17145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6302A"/>
                </a:solidFill>
              </a:rPr>
              <a:t>学习与复制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A4EEEB3-C041-4E1C-9CD5-7DEA4240E598}"/>
              </a:ext>
            </a:extLst>
          </p:cNvPr>
          <p:cNvSpPr txBox="1"/>
          <p:nvPr/>
        </p:nvSpPr>
        <p:spPr>
          <a:xfrm>
            <a:off x="1219200" y="4229100"/>
            <a:ext cx="5219700" cy="1905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标准化、培训、数据、可复制能力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E21E053F-C29B-46B2-919B-163D6101893E}"/>
              </a:ext>
            </a:extLst>
          </p:cNvPr>
          <p:cNvSpPr txBox="1"/>
          <p:nvPr/>
        </p:nvSpPr>
        <p:spPr>
          <a:xfrm>
            <a:off x="762000" y="4591050"/>
            <a:ext cx="381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B8860B"/>
                </a:solidFill>
              </a:rPr>
              <a:t>06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5E0DA68-9AD4-4ABC-9264-7CD71A930BE3}"/>
              </a:ext>
            </a:extLst>
          </p:cNvPr>
          <p:cNvSpPr txBox="1"/>
          <p:nvPr/>
        </p:nvSpPr>
        <p:spPr>
          <a:xfrm>
            <a:off x="1219200" y="4533900"/>
            <a:ext cx="17145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6302A"/>
                </a:solidFill>
              </a:rPr>
              <a:t>增长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3B2AE3D9-149B-4C79-B006-27A167A6F1F5}"/>
              </a:ext>
            </a:extLst>
          </p:cNvPr>
          <p:cNvSpPr txBox="1"/>
          <p:nvPr/>
        </p:nvSpPr>
        <p:spPr>
          <a:xfrm>
            <a:off x="1219200" y="4781550"/>
            <a:ext cx="5219700" cy="1905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村数、品类、订单、用户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4BDF733E-753D-4763-BFB5-2F2B72A6BFD8}"/>
              </a:ext>
            </a:extLst>
          </p:cNvPr>
          <p:cNvSpPr txBox="1"/>
          <p:nvPr/>
        </p:nvSpPr>
        <p:spPr>
          <a:xfrm>
            <a:off x="762000" y="5143500"/>
            <a:ext cx="381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B8860B"/>
                </a:solidFill>
              </a:rPr>
              <a:t>07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F0630128-1702-4D7E-B7AD-9F2C2614FB5C}"/>
              </a:ext>
            </a:extLst>
          </p:cNvPr>
          <p:cNvSpPr txBox="1"/>
          <p:nvPr/>
        </p:nvSpPr>
        <p:spPr>
          <a:xfrm>
            <a:off x="1219200" y="5086350"/>
            <a:ext cx="17145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6302A"/>
                </a:solidFill>
              </a:rPr>
              <a:t>利润分配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5D95AE52-4DD8-4359-A45B-EA6B340B2F7C}"/>
              </a:ext>
            </a:extLst>
          </p:cNvPr>
          <p:cNvSpPr txBox="1"/>
          <p:nvPr/>
        </p:nvSpPr>
        <p:spPr>
          <a:xfrm>
            <a:off x="1219200" y="5334000"/>
            <a:ext cx="5219700" cy="1905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再投资、农户分红、村集体、团队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A4B02C5B-18AC-432A-9357-33EADCED3BD1}"/>
              </a:ext>
            </a:extLst>
          </p:cNvPr>
          <p:cNvSpPr txBox="1"/>
          <p:nvPr/>
        </p:nvSpPr>
        <p:spPr>
          <a:xfrm>
            <a:off x="7277100" y="1943100"/>
            <a:ext cx="40386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F5D46"/>
                </a:solidFill>
              </a:rPr>
              <a:t>波动预算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91222C61-B862-45BB-9521-D5FDEE5B82B8}"/>
              </a:ext>
            </a:extLst>
          </p:cNvPr>
          <p:cNvSpPr txBox="1"/>
          <p:nvPr/>
        </p:nvSpPr>
        <p:spPr>
          <a:xfrm>
            <a:off x="7277100" y="2286000"/>
            <a:ext cx="4038600" cy="2286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B746C"/>
                </a:solidFill>
              </a:rPr>
              <a:t>封住下行，保留上行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7A0367B1-B3D6-4018-A278-6398C69DEC7A}"/>
              </a:ext>
            </a:extLst>
          </p:cNvPr>
          <p:cNvSpPr txBox="1"/>
          <p:nvPr/>
        </p:nvSpPr>
        <p:spPr>
          <a:xfrm>
            <a:off x="7277100" y="2724150"/>
            <a:ext cx="1809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6302A"/>
                </a:solidFill>
              </a:rPr>
              <a:t>现金 runway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CC2DA61B-11C5-460F-8C54-D7BC7D65D318}"/>
              </a:ext>
            </a:extLst>
          </p:cNvPr>
          <p:cNvSpPr txBox="1"/>
          <p:nvPr/>
        </p:nvSpPr>
        <p:spPr>
          <a:xfrm>
            <a:off x="9182100" y="2724150"/>
            <a:ext cx="2133600" cy="2286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≥ 12 个月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D9CC78CB-D3E8-48B3-B5F1-76329A90C91A}"/>
              </a:ext>
            </a:extLst>
          </p:cNvPr>
          <p:cNvSpPr txBox="1"/>
          <p:nvPr/>
        </p:nvSpPr>
        <p:spPr>
          <a:xfrm>
            <a:off x="7277100" y="3181350"/>
            <a:ext cx="1809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6302A"/>
                </a:solidFill>
              </a:rPr>
              <a:t>单一大客户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D7CBF35B-596A-44FA-BC3F-6D07A3706893}"/>
              </a:ext>
            </a:extLst>
          </p:cNvPr>
          <p:cNvSpPr txBox="1"/>
          <p:nvPr/>
        </p:nvSpPr>
        <p:spPr>
          <a:xfrm>
            <a:off x="9182100" y="3181350"/>
            <a:ext cx="2133600" cy="2286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≤ 30%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A05686F7-5964-4D1E-8CD5-CCC096797885}"/>
              </a:ext>
            </a:extLst>
          </p:cNvPr>
          <p:cNvSpPr txBox="1"/>
          <p:nvPr/>
        </p:nvSpPr>
        <p:spPr>
          <a:xfrm>
            <a:off x="7277100" y="3638550"/>
            <a:ext cx="1809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6302A"/>
                </a:solidFill>
              </a:rPr>
              <a:t>质量安全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905844FA-4673-41EC-84DC-8852309618F9}"/>
              </a:ext>
            </a:extLst>
          </p:cNvPr>
          <p:cNvSpPr txBox="1"/>
          <p:nvPr/>
        </p:nvSpPr>
        <p:spPr>
          <a:xfrm>
            <a:off x="9182100" y="3638550"/>
            <a:ext cx="2133600" cy="2286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零容忍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26AA92E5-9AD1-44EE-937F-1DFB8C7FF268}"/>
              </a:ext>
            </a:extLst>
          </p:cNvPr>
          <p:cNvSpPr txBox="1"/>
          <p:nvPr/>
        </p:nvSpPr>
        <p:spPr>
          <a:xfrm>
            <a:off x="7277100" y="4095750"/>
            <a:ext cx="1809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6302A"/>
                </a:solidFill>
              </a:rPr>
              <a:t>试验预算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A5D753EC-4B86-4628-9F78-6AD25F253F8B}"/>
              </a:ext>
            </a:extLst>
          </p:cNvPr>
          <p:cNvSpPr txBox="1"/>
          <p:nvPr/>
        </p:nvSpPr>
        <p:spPr>
          <a:xfrm>
            <a:off x="9182100" y="4095750"/>
            <a:ext cx="2133600" cy="2286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5%–10%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131B21B2-543D-4DD4-80B2-356FA7DC60F5}"/>
              </a:ext>
            </a:extLst>
          </p:cNvPr>
          <p:cNvSpPr txBox="1"/>
          <p:nvPr/>
        </p:nvSpPr>
        <p:spPr>
          <a:xfrm>
            <a:off x="7277100" y="4552950"/>
            <a:ext cx="1809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6302A"/>
                </a:solidFill>
              </a:rPr>
              <a:t>农户政策影响面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28B9B463-D7CF-41D4-A239-A0FCCFE091F4}"/>
              </a:ext>
            </a:extLst>
          </p:cNvPr>
          <p:cNvSpPr txBox="1"/>
          <p:nvPr/>
        </p:nvSpPr>
        <p:spPr>
          <a:xfrm>
            <a:off x="9182100" y="4552950"/>
            <a:ext cx="2133600" cy="2286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≤ 10%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95E55444-0735-4643-B3BE-60B3F8376C59}"/>
              </a:ext>
            </a:extLst>
          </p:cNvPr>
          <p:cNvSpPr txBox="1"/>
          <p:nvPr/>
        </p:nvSpPr>
        <p:spPr>
          <a:xfrm>
            <a:off x="7277100" y="5010150"/>
            <a:ext cx="4038600" cy="381000"/>
          </a:xfrm>
        </p:spPr>
        <p:txBody>
          <a:bodyPr wrap="square" rtlCol="0" lIns="0" tIns="0" rIns="0" bIns="0" anchor="t"/>
          <a:lstStyle/>
          <a:p>
            <a:r>
              <a:rPr sz="1150" b="1">
                <a:solidFill>
                  <a:srgbClr val="B8860B"/>
                </a:solidFill>
              </a:rPr>
              <a:t>可逆优先：先试点，再决定加码 / 停止。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BC31C6D-60E1-4809-8A73-B4F98E9206CF}"/>
              </a:ext>
            </a:extLst>
          </p:cNvPr>
          <p:cNvSpPr txBox="1"/>
          <p:nvPr/>
        </p:nvSpPr>
        <p:spPr>
          <a:xfrm>
            <a:off x="838200" y="5924550"/>
            <a:ext cx="105156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5F1E6"/>
                </a:solidFill>
              </a:rPr>
              <a:t>营销、人员、资源不是第一名，它们是手段和约束。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22BF27A-075C-480F-81FB-22EFDA17FC4B}"/>
              </a:ext>
            </a:extLst>
          </p:cNvPr>
          <p:cNvSpPr/>
          <p:nvPr/>
        </p:nvSpPr>
        <p:spPr>
          <a:xfrm>
            <a:off x="609600" y="1619250"/>
            <a:ext cx="25908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8AC03D5-3E95-4559-9C75-1B1E6764B690}"/>
              </a:ext>
            </a:extLst>
          </p:cNvPr>
          <p:cNvSpPr/>
          <p:nvPr/>
        </p:nvSpPr>
        <p:spPr>
          <a:xfrm>
            <a:off x="3352800" y="1619250"/>
            <a:ext cx="25908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98CA20C-329A-44FC-8F30-321070136F68}"/>
              </a:ext>
            </a:extLst>
          </p:cNvPr>
          <p:cNvSpPr/>
          <p:nvPr/>
        </p:nvSpPr>
        <p:spPr>
          <a:xfrm>
            <a:off x="6096000" y="1619250"/>
            <a:ext cx="25908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9BF1BCB-242C-478B-8978-D5ACD84E50F8}"/>
              </a:ext>
            </a:extLst>
          </p:cNvPr>
          <p:cNvSpPr/>
          <p:nvPr/>
        </p:nvSpPr>
        <p:spPr>
          <a:xfrm>
            <a:off x="8839200" y="1619250"/>
            <a:ext cx="25908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228D674-706E-42C6-A800-0471FB8EA4FA}"/>
              </a:ext>
            </a:extLst>
          </p:cNvPr>
          <p:cNvSpPr/>
          <p:nvPr/>
        </p:nvSpPr>
        <p:spPr>
          <a:xfrm>
            <a:off x="609600" y="3619500"/>
            <a:ext cx="5334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0D93B60-B293-48EB-9CC1-06B70A429692}"/>
              </a:ext>
            </a:extLst>
          </p:cNvPr>
          <p:cNvSpPr/>
          <p:nvPr/>
        </p:nvSpPr>
        <p:spPr>
          <a:xfrm>
            <a:off x="6172200" y="3619500"/>
            <a:ext cx="54102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7F342A9-0F65-4A7E-8B9F-01C6AB142CE9}"/>
              </a:ext>
            </a:extLst>
          </p:cNvPr>
          <p:cNvSpPr/>
          <p:nvPr/>
        </p:nvSpPr>
        <p:spPr>
          <a:xfrm>
            <a:off x="609600" y="5810250"/>
            <a:ext cx="10972800" cy="457200"/>
          </a:xfrm>
          <a:prstGeom prst="rect">
            <a:avLst/>
          </a:prstGeom>
          <a:solidFill>
            <a:srgbClr val="2F5D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43B1ABF-838C-4A55-A9CB-ED079FF896CB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F5D46"/>
                </a:solidFill>
              </a:rPr>
              <a:t>阶段与治理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743F96B-9BBB-41E9-B805-D36D736ECC78}"/>
              </a:ext>
            </a:extLst>
          </p:cNvPr>
          <p:cNvSpPr txBox="1"/>
          <p:nvPr/>
        </p:nvSpPr>
        <p:spPr>
          <a:xfrm>
            <a:off x="609600" y="800100"/>
            <a:ext cx="11049000" cy="571500"/>
          </a:xfrm>
        </p:spPr>
        <p:txBody>
          <a:bodyPr wrap="square" rtlCol="0" lIns="0" tIns="0" rIns="0" bIns="0" anchor="t"/>
          <a:lstStyle/>
          <a:p>
            <a:r>
              <a:rPr sz="3600" b="1">
                <a:solidFill>
                  <a:srgbClr val="26302A"/>
                </a:solidFill>
              </a:rPr>
              <a:t>技术指标达标，不等于战略成功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F1693DA-9130-4A3D-B3E5-51394ECAACBF}"/>
              </a:ext>
            </a:extLst>
          </p:cNvPr>
          <p:cNvSpPr txBox="1"/>
          <p:nvPr/>
        </p:nvSpPr>
        <p:spPr>
          <a:xfrm>
            <a:off x="800100" y="1752600"/>
            <a:ext cx="2209800" cy="190500"/>
          </a:xfrm>
        </p:spPr>
        <p:txBody>
          <a:bodyPr wrap="square" rtlCol="0" lIns="0" tIns="0" rIns="0" bIns="0" anchor="t"/>
          <a:lstStyle/>
          <a:p>
            <a:r>
              <a:rPr sz="1150" b="1">
                <a:solidFill>
                  <a:srgbClr val="B8860B"/>
                </a:solidFill>
              </a:rPr>
              <a:t>0 · 验证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76B8EEE-C275-428E-802E-F7F8B1DA572F}"/>
              </a:ext>
            </a:extLst>
          </p:cNvPr>
          <p:cNvSpPr txBox="1"/>
          <p:nvPr/>
        </p:nvSpPr>
        <p:spPr>
          <a:xfrm>
            <a:off x="800100" y="2000250"/>
            <a:ext cx="22098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6302A"/>
                </a:solidFill>
              </a:rPr>
              <a:t>验证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9E50081-0452-4768-AEFD-867943588491}"/>
              </a:ext>
            </a:extLst>
          </p:cNvPr>
          <p:cNvSpPr txBox="1"/>
          <p:nvPr/>
        </p:nvSpPr>
        <p:spPr>
          <a:xfrm>
            <a:off x="800100" y="2343150"/>
            <a:ext cx="2209800" cy="51435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有人愿意买、有人愿意供；先跑通一个村、一个品类。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9E8D6DD-215F-44FB-8836-F8893B2951BC}"/>
              </a:ext>
            </a:extLst>
          </p:cNvPr>
          <p:cNvSpPr txBox="1"/>
          <p:nvPr/>
        </p:nvSpPr>
        <p:spPr>
          <a:xfrm>
            <a:off x="800100" y="2933700"/>
            <a:ext cx="2209800" cy="2857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F5D46"/>
                </a:solidFill>
              </a:rPr>
              <a:t>门禁：复购 + 无重大质量事故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FC479A8-E78F-4A2B-A1D6-62DB5739B26C}"/>
              </a:ext>
            </a:extLst>
          </p:cNvPr>
          <p:cNvSpPr txBox="1"/>
          <p:nvPr/>
        </p:nvSpPr>
        <p:spPr>
          <a:xfrm>
            <a:off x="3543300" y="1752600"/>
            <a:ext cx="2209800" cy="190500"/>
          </a:xfrm>
        </p:spPr>
        <p:txBody>
          <a:bodyPr wrap="square" rtlCol="0" lIns="0" tIns="0" rIns="0" bIns="0" anchor="t"/>
          <a:lstStyle/>
          <a:p>
            <a:r>
              <a:rPr sz="1150" b="1">
                <a:solidFill>
                  <a:srgbClr val="B8860B"/>
                </a:solidFill>
              </a:rPr>
              <a:t>1 · 单村密度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50C06AE-0527-49C4-802B-5DCAB2232951}"/>
              </a:ext>
            </a:extLst>
          </p:cNvPr>
          <p:cNvSpPr txBox="1"/>
          <p:nvPr/>
        </p:nvSpPr>
        <p:spPr>
          <a:xfrm>
            <a:off x="3543300" y="2000250"/>
            <a:ext cx="22098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6302A"/>
                </a:solidFill>
              </a:rPr>
              <a:t>单村密度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AA6C0DA-8867-4FB7-9089-7115C73FF3E7}"/>
              </a:ext>
            </a:extLst>
          </p:cNvPr>
          <p:cNvSpPr txBox="1"/>
          <p:nvPr/>
        </p:nvSpPr>
        <p:spPr>
          <a:xfrm>
            <a:off x="3543300" y="2343150"/>
            <a:ext cx="2209800" cy="51435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一个村 / 品类做透；</a:t>
            </a:r>
          </a:p>
          <a:p>
            <a:r>
              <a:rPr sz="1150">
                <a:solidFill>
                  <a:srgbClr val="6B746C"/>
                </a:solidFill>
              </a:rPr>
              <a:t>复购、损耗、履约稳定。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F1534D3-3DC6-4851-B904-8FBC607DEECD}"/>
              </a:ext>
            </a:extLst>
          </p:cNvPr>
          <p:cNvSpPr txBox="1"/>
          <p:nvPr/>
        </p:nvSpPr>
        <p:spPr>
          <a:xfrm>
            <a:off x="3543300" y="2933700"/>
            <a:ext cx="2209800" cy="2857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F5D46"/>
                </a:solidFill>
              </a:rPr>
              <a:t>门禁：贡献毛利为正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A3B1A78-B506-47AC-8EB6-EFECB66FE930}"/>
              </a:ext>
            </a:extLst>
          </p:cNvPr>
          <p:cNvSpPr txBox="1"/>
          <p:nvPr/>
        </p:nvSpPr>
        <p:spPr>
          <a:xfrm>
            <a:off x="6286500" y="1752600"/>
            <a:ext cx="2209800" cy="190500"/>
          </a:xfrm>
        </p:spPr>
        <p:txBody>
          <a:bodyPr wrap="square" rtlCol="0" lIns="0" tIns="0" rIns="0" bIns="0" anchor="t"/>
          <a:lstStyle/>
          <a:p>
            <a:r>
              <a:rPr sz="1150" b="1">
                <a:solidFill>
                  <a:srgbClr val="B8860B"/>
                </a:solidFill>
              </a:rPr>
              <a:t>2 · 多村复制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6A0A275-E160-4006-B9CF-23A3F0D307A3}"/>
              </a:ext>
            </a:extLst>
          </p:cNvPr>
          <p:cNvSpPr txBox="1"/>
          <p:nvPr/>
        </p:nvSpPr>
        <p:spPr>
          <a:xfrm>
            <a:off x="6286500" y="2000250"/>
            <a:ext cx="22098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6302A"/>
                </a:solidFill>
              </a:rPr>
              <a:t>多村复制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50F0C7F-2251-48F7-A8B8-7FAFF04E1FB9}"/>
              </a:ext>
            </a:extLst>
          </p:cNvPr>
          <p:cNvSpPr txBox="1"/>
          <p:nvPr/>
        </p:nvSpPr>
        <p:spPr>
          <a:xfrm>
            <a:off x="6286500" y="2343150"/>
            <a:ext cx="2209800" cy="51435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playbook、培训；</a:t>
            </a:r>
          </a:p>
          <a:p>
            <a:r>
              <a:rPr sz="1150">
                <a:solidFill>
                  <a:srgbClr val="6B746C"/>
                </a:solidFill>
              </a:rPr>
              <a:t>地方治理可复制。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8F73F92-7F4D-4564-B3C7-49DA4EA4036F}"/>
              </a:ext>
            </a:extLst>
          </p:cNvPr>
          <p:cNvSpPr txBox="1"/>
          <p:nvPr/>
        </p:nvSpPr>
        <p:spPr>
          <a:xfrm>
            <a:off x="6286500" y="2933700"/>
            <a:ext cx="2209800" cy="2857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F5D46"/>
                </a:solidFill>
              </a:rPr>
              <a:t>门禁：复制村单位经济为正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93ABC08-CA8D-40C0-9869-5B9108F8DD3A}"/>
              </a:ext>
            </a:extLst>
          </p:cNvPr>
          <p:cNvSpPr txBox="1"/>
          <p:nvPr/>
        </p:nvSpPr>
        <p:spPr>
          <a:xfrm>
            <a:off x="9029700" y="1752600"/>
            <a:ext cx="2209800" cy="190500"/>
          </a:xfrm>
        </p:spPr>
        <p:txBody>
          <a:bodyPr wrap="square" rtlCol="0" lIns="0" tIns="0" rIns="0" bIns="0" anchor="t"/>
          <a:lstStyle/>
          <a:p>
            <a:r>
              <a:rPr sz="1150" b="1">
                <a:solidFill>
                  <a:srgbClr val="B8860B"/>
                </a:solidFill>
              </a:rPr>
              <a:t>3 · 区域网络 + 韧性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5756706-40EC-4A53-8EDB-4490E3CB68BD}"/>
              </a:ext>
            </a:extLst>
          </p:cNvPr>
          <p:cNvSpPr txBox="1"/>
          <p:nvPr/>
        </p:nvSpPr>
        <p:spPr>
          <a:xfrm>
            <a:off x="9029700" y="2000250"/>
            <a:ext cx="2209800" cy="2667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26302A"/>
                </a:solidFill>
              </a:rPr>
              <a:t>区域网络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A8D662F-D79D-4ACC-8097-7D4BAE3A4B72}"/>
              </a:ext>
            </a:extLst>
          </p:cNvPr>
          <p:cNvSpPr txBox="1"/>
          <p:nvPr/>
        </p:nvSpPr>
        <p:spPr>
          <a:xfrm>
            <a:off x="9029700" y="2343150"/>
            <a:ext cx="2209800" cy="51435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数据、金融、服务、渠道成网；</a:t>
            </a:r>
          </a:p>
          <a:p>
            <a:r>
              <a:rPr sz="1150">
                <a:solidFill>
                  <a:srgbClr val="6B746C"/>
                </a:solidFill>
              </a:rPr>
              <a:t>抗冲击、能接班。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5089183-7F29-45BD-90EB-ECCC51DF4C2F}"/>
              </a:ext>
            </a:extLst>
          </p:cNvPr>
          <p:cNvSpPr txBox="1"/>
          <p:nvPr/>
        </p:nvSpPr>
        <p:spPr>
          <a:xfrm>
            <a:off x="9029700" y="2933700"/>
            <a:ext cx="2209800" cy="2857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F5D46"/>
                </a:solidFill>
              </a:rPr>
              <a:t>门禁：不靠补贴也能转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9F2406C-7CF8-4F05-94C4-AD56C8E25EFE}"/>
              </a:ext>
            </a:extLst>
          </p:cNvPr>
          <p:cNvSpPr txBox="1"/>
          <p:nvPr/>
        </p:nvSpPr>
        <p:spPr>
          <a:xfrm>
            <a:off x="876300" y="3829050"/>
            <a:ext cx="48006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F5D46"/>
                </a:solidFill>
              </a:rPr>
              <a:t>治理：谁拍板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BABDECF5-AA13-4E1B-950B-58DEFCE3AAC7}"/>
              </a:ext>
            </a:extLst>
          </p:cNvPr>
          <p:cNvSpPr txBox="1"/>
          <p:nvPr/>
        </p:nvSpPr>
        <p:spPr>
          <a:xfrm>
            <a:off x="876300" y="4171950"/>
            <a:ext cx="4800600" cy="2286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提议 / 评审 / 批准分离；高风险人工签字。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4ECA560-0F42-4322-98B8-B969D2212E36}"/>
              </a:ext>
            </a:extLst>
          </p:cNvPr>
          <p:cNvSpPr txBox="1"/>
          <p:nvPr/>
        </p:nvSpPr>
        <p:spPr>
          <a:xfrm>
            <a:off x="876300" y="4457700"/>
            <a:ext cx="4800600" cy="228600"/>
          </a:xfrm>
        </p:spPr>
        <p:txBody>
          <a:bodyPr wrap="square" rtlCol="0" lIns="0" tIns="0" rIns="0" bIns="0" anchor="t"/>
          <a:lstStyle/>
          <a:p>
            <a:r>
              <a:rPr sz="1250">
                <a:solidFill>
                  <a:srgbClr val="26302A"/>
                </a:solidFill>
              </a:rPr>
              <a:t>村委 / 理事会：战略、红线、预算、分配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DD932810-65AA-4671-9F27-2F0AD05B28E3}"/>
              </a:ext>
            </a:extLst>
          </p:cNvPr>
          <p:cNvSpPr txBox="1"/>
          <p:nvPr/>
        </p:nvSpPr>
        <p:spPr>
          <a:xfrm>
            <a:off x="876300" y="4724400"/>
            <a:ext cx="4800600" cy="228600"/>
          </a:xfrm>
        </p:spPr>
        <p:txBody>
          <a:bodyPr wrap="square" rtlCol="0" lIns="0" tIns="0" rIns="0" bIns="0" anchor="t"/>
          <a:lstStyle/>
          <a:p>
            <a:r>
              <a:rPr sz="1250">
                <a:solidFill>
                  <a:srgbClr val="26302A"/>
                </a:solidFill>
              </a:rPr>
              <a:t>农户代表：价格、回款、服务、申诉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87283392-8DFB-4344-AD04-4161C0C5D98F}"/>
              </a:ext>
            </a:extLst>
          </p:cNvPr>
          <p:cNvSpPr txBox="1"/>
          <p:nvPr/>
        </p:nvSpPr>
        <p:spPr>
          <a:xfrm>
            <a:off x="876300" y="4991100"/>
            <a:ext cx="4800600" cy="228600"/>
          </a:xfrm>
        </p:spPr>
        <p:txBody>
          <a:bodyPr wrap="square" rtlCol="0" lIns="0" tIns="0" rIns="0" bIns="0" anchor="t"/>
          <a:lstStyle/>
          <a:p>
            <a:r>
              <a:rPr sz="1250">
                <a:solidFill>
                  <a:srgbClr val="26302A"/>
                </a:solidFill>
              </a:rPr>
              <a:t>平台运营：日常经营、技术、履约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D39C799B-247D-4FB8-9160-5E5DE5052583}"/>
              </a:ext>
            </a:extLst>
          </p:cNvPr>
          <p:cNvSpPr txBox="1"/>
          <p:nvPr/>
        </p:nvSpPr>
        <p:spPr>
          <a:xfrm>
            <a:off x="876300" y="5257800"/>
            <a:ext cx="4800600" cy="228600"/>
          </a:xfrm>
        </p:spPr>
        <p:txBody>
          <a:bodyPr wrap="square" rtlCol="0" lIns="0" tIns="0" rIns="0" bIns="0" anchor="t"/>
          <a:lstStyle/>
          <a:p>
            <a:r>
              <a:rPr sz="1250">
                <a:solidFill>
                  <a:srgbClr val="26302A"/>
                </a:solidFill>
              </a:rPr>
              <a:t>独立审计：规则、资金、数据、复核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C294523E-AF66-4C7F-93E8-575D894FD19B}"/>
              </a:ext>
            </a:extLst>
          </p:cNvPr>
          <p:cNvSpPr txBox="1"/>
          <p:nvPr/>
        </p:nvSpPr>
        <p:spPr>
          <a:xfrm>
            <a:off x="6438900" y="3829050"/>
            <a:ext cx="48768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F5D46"/>
                </a:solidFill>
              </a:rPr>
              <a:t>战略到规则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BFF6419E-4723-4288-A109-BF180B3B71C5}"/>
              </a:ext>
            </a:extLst>
          </p:cNvPr>
          <p:cNvSpPr txBox="1"/>
          <p:nvPr/>
        </p:nvSpPr>
        <p:spPr>
          <a:xfrm>
            <a:off x="6438900" y="4171950"/>
            <a:ext cx="4876800" cy="228600"/>
          </a:xfrm>
        </p:spPr>
        <p:txBody>
          <a:bodyPr wrap="square" rtlCol="0" lIns="0" tIns="0" rIns="0" bIns="0" anchor="t"/>
          <a:lstStyle/>
          <a:p>
            <a:r>
              <a:rPr sz="1150">
                <a:solidFill>
                  <a:srgbClr val="6B746C"/>
                </a:solidFill>
              </a:rPr>
              <a:t>每条规则必须有 strategyRefs；没有挂靠的阈值只是拍脑袋。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5AEE6798-DF30-4E1F-8342-33E9B5736343}"/>
              </a:ext>
            </a:extLst>
          </p:cNvPr>
          <p:cNvSpPr txBox="1"/>
          <p:nvPr/>
        </p:nvSpPr>
        <p:spPr>
          <a:xfrm>
            <a:off x="6438900" y="4457700"/>
            <a:ext cx="4876800" cy="228600"/>
          </a:xfrm>
        </p:spPr>
        <p:txBody>
          <a:bodyPr wrap="square" rtlCol="0" lIns="0" tIns="0" rIns="0" bIns="0" anchor="t"/>
          <a:lstStyle/>
          <a:p>
            <a:r>
              <a:rPr sz="1250">
                <a:solidFill>
                  <a:srgbClr val="26302A"/>
                </a:solidFill>
              </a:rPr>
              <a:t>食品安全 → 硬阻断、人工复核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BC21B343-A64A-4FAC-9A1A-E4C289CE6A6D}"/>
              </a:ext>
            </a:extLst>
          </p:cNvPr>
          <p:cNvSpPr txBox="1"/>
          <p:nvPr/>
        </p:nvSpPr>
        <p:spPr>
          <a:xfrm>
            <a:off x="6438900" y="4724400"/>
            <a:ext cx="4876800" cy="228600"/>
          </a:xfrm>
        </p:spPr>
        <p:txBody>
          <a:bodyPr wrap="square" rtlCol="0" lIns="0" tIns="0" rIns="0" bIns="0" anchor="t"/>
          <a:lstStyle/>
          <a:p>
            <a:r>
              <a:rPr sz="1250">
                <a:solidFill>
                  <a:srgbClr val="26302A"/>
                </a:solidFill>
              </a:rPr>
              <a:t>现金流 → 止损线、升级线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65DE204B-76BF-466D-BD47-412148987526}"/>
              </a:ext>
            </a:extLst>
          </p:cNvPr>
          <p:cNvSpPr txBox="1"/>
          <p:nvPr/>
        </p:nvSpPr>
        <p:spPr>
          <a:xfrm>
            <a:off x="6438900" y="4991100"/>
            <a:ext cx="4876800" cy="228600"/>
          </a:xfrm>
        </p:spPr>
        <p:txBody>
          <a:bodyPr wrap="square" rtlCol="0" lIns="0" tIns="0" rIns="0" bIns="0" anchor="t"/>
          <a:lstStyle/>
          <a:p>
            <a:r>
              <a:rPr sz="1250">
                <a:solidFill>
                  <a:srgbClr val="26302A"/>
                </a:solidFill>
              </a:rPr>
              <a:t>农户信任 → 价格 / 回款 / 申诉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2390A99D-50D4-473D-96B5-A6FA147E6B2F}"/>
              </a:ext>
            </a:extLst>
          </p:cNvPr>
          <p:cNvSpPr txBox="1"/>
          <p:nvPr/>
        </p:nvSpPr>
        <p:spPr>
          <a:xfrm>
            <a:off x="6438900" y="5257800"/>
            <a:ext cx="4876800" cy="228600"/>
          </a:xfrm>
        </p:spPr>
        <p:txBody>
          <a:bodyPr wrap="square" rtlCol="0" lIns="0" tIns="0" rIns="0" bIns="0" anchor="t"/>
          <a:lstStyle/>
          <a:p>
            <a:r>
              <a:rPr sz="1250">
                <a:solidFill>
                  <a:srgbClr val="26302A"/>
                </a:solidFill>
              </a:rPr>
              <a:t>单村密度 → 质量 / 复购优先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2C76016C-3A65-4543-BEA9-6700F07E6CC7}"/>
              </a:ext>
            </a:extLst>
          </p:cNvPr>
          <p:cNvSpPr txBox="1"/>
          <p:nvPr/>
        </p:nvSpPr>
        <p:spPr>
          <a:xfrm>
            <a:off x="838200" y="5924550"/>
            <a:ext cx="105156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5F1E6"/>
                </a:solidFill>
              </a:rPr>
              <a:t>战略是宪法，规则是法律；先有战略，才有阈值。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